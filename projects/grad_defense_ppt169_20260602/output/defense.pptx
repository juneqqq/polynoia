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365D"/>
              </a:gs>
              <a:gs pos="50000">
                <a:srgbClr val="1E4D8C"/>
              </a:gs>
              <a:gs pos="100000">
                <a:srgbClr val="2B6CB0"/>
              </a:gs>
            </a:gsLst>
            <a:lin ang="2700000" scaled="1"/>
          </a:gra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4572000"/>
            <a:ext cx="12192000" cy="28575"/>
          </a:xfrm>
          <a:prstGeom prst="rect">
            <a:avLst/>
          </a:prstGeom>
          <a:gradFill>
            <a:gsLst>
              <a:gs pos="0">
                <a:srgbClr val="3182CE"/>
              </a:gs>
              <a:gs pos="100000">
                <a:srgbClr val="63B3ED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4" name="Line 4"/>
          <p:cNvSpPr/>
          <p:nvPr/>
        </p:nvSpPr>
        <p:spPr>
          <a:xfrm>
            <a:off x="762000" y="485775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9525">
            <a:solidFill>
              <a:srgbClr val="63B3ED">
                <a:alpha val="40000"/>
              </a:srgbClr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704850" y="2276475"/>
            <a:ext cx="5154930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b="1" dirty="0">
                <a:solidFill>
                  <a:srgbClr val="FFFFFF">
                    <a:alphaMod val="95000"/>
                  </a:srgbClr>
                </a:solidFill>
                <a:latin typeface="Georgia"/>
                <a:ea typeface="Microsoft YaHei"/>
                <a:cs typeface="Georgia"/>
              </a:rPr>
              <a:t>基于大语言模型的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04850" y="3038475"/>
            <a:ext cx="8305324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b="1" dirty="0">
                <a:solidFill>
                  <a:srgbClr val="FFFFFF">
                    <a:alphaMod val="95000"/>
                  </a:srgbClr>
                </a:solidFill>
                <a:latin typeface="Georgia"/>
                <a:ea typeface="Microsoft YaHei"/>
                <a:cs typeface="Georgia"/>
              </a:rPr>
              <a:t>多智能体协作框架研究与实现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9140" y="3901440"/>
            <a:ext cx="946689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63B3ED">
                    <a:alphaMod val="85000"/>
                  </a:srgbClr>
                </a:solidFill>
                <a:latin typeface="Georgia"/>
                <a:ea typeface="Microsoft YaHei"/>
                <a:cs typeface="Georgia"/>
              </a:rPr>
              <a:t>Research and Implementation of LLM-Based Multi-Agent Collaboration Framework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2950" y="5076825"/>
            <a:ext cx="116824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2E8F0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答辩人：XXX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42950" y="5362575"/>
            <a:ext cx="148828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E2E8F0">
                    <a:alphaMod val="80000"/>
                  </a:srgbClr>
                </a:solidFill>
                <a:latin typeface="Arial"/>
                <a:ea typeface="Microsoft YaHei"/>
                <a:cs typeface="Arial"/>
              </a:rPr>
              <a:t>导 师：XXX 教授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4855" y="5759768"/>
            <a:ext cx="28966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A0AEC0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计算机科学与技术学院 · 2026年6月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326011" y="6578441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718096">
                    <a:alphaMod val="50000"/>
                  </a:srgbClr>
                </a:solidFill>
                <a:latin typeface="Georgia"/>
                <a:ea typeface="Microsoft YaHei"/>
                <a:cs typeface="Georgia"/>
              </a:rPr>
              <a:t>01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1520" y="598170"/>
            <a:ext cx="73304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365D"/>
                </a:solidFill>
                <a:latin typeface="Georgia"/>
                <a:ea typeface="Microsoft YaHei"/>
                <a:cs typeface="Georgia"/>
              </a:rPr>
              <a:t>目录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7712" y="1021556"/>
            <a:ext cx="68865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Contents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1285875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62000" y="1571625"/>
            <a:ext cx="104775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026795" y="1698308"/>
            <a:ext cx="23828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B6CB0"/>
                </a:solidFill>
                <a:latin typeface="Georgia"/>
                <a:ea typeface="SimSun"/>
                <a:cs typeface="Georgia"/>
              </a:rPr>
              <a:t>01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04950" y="1714500"/>
            <a:ext cx="1838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研究背景与问题定义</a:t>
            </a:r>
          </a:p>
        </p:txBody>
      </p:sp>
      <p:sp>
        <p:nvSpPr>
          <p:cNvPr id="10" name="Rectangle 10"/>
          <p:cNvSpPr/>
          <p:nvPr/>
        </p:nvSpPr>
        <p:spPr>
          <a:xfrm>
            <a:off x="762000" y="2143125"/>
            <a:ext cx="104775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1" name="TextBox 11"/>
          <p:cNvSpPr txBox="1"/>
          <p:nvPr/>
        </p:nvSpPr>
        <p:spPr>
          <a:xfrm>
            <a:off x="1026795" y="2269808"/>
            <a:ext cx="2960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B6CB0"/>
                </a:solidFill>
                <a:latin typeface="Georgia"/>
                <a:ea typeface="SimSun"/>
                <a:cs typeface="Georgia"/>
              </a:rPr>
              <a:t>02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04950" y="2286000"/>
            <a:ext cx="16383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系统总体架构设计</a:t>
            </a:r>
          </a:p>
        </p:txBody>
      </p:sp>
      <p:sp>
        <p:nvSpPr>
          <p:cNvPr id="13" name="Rectangle 13"/>
          <p:cNvSpPr/>
          <p:nvPr/>
        </p:nvSpPr>
        <p:spPr>
          <a:xfrm>
            <a:off x="762000" y="2714625"/>
            <a:ext cx="104775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1026795" y="2841308"/>
            <a:ext cx="2960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B6CB0"/>
                </a:solidFill>
                <a:latin typeface="Georgia"/>
                <a:ea typeface="SimSun"/>
                <a:cs typeface="Georgia"/>
              </a:rPr>
              <a:t>03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04950" y="2857500"/>
            <a:ext cx="20383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三层协议与适配器设计</a:t>
            </a:r>
          </a:p>
        </p:txBody>
      </p:sp>
      <p:sp>
        <p:nvSpPr>
          <p:cNvPr id="16" name="Rectangle 16"/>
          <p:cNvSpPr/>
          <p:nvPr/>
        </p:nvSpPr>
        <p:spPr>
          <a:xfrm>
            <a:off x="762000" y="3286125"/>
            <a:ext cx="104775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7" name="TextBox 17"/>
          <p:cNvSpPr txBox="1"/>
          <p:nvPr/>
        </p:nvSpPr>
        <p:spPr>
          <a:xfrm>
            <a:off x="1026795" y="3412808"/>
            <a:ext cx="2960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B6CB0"/>
                </a:solidFill>
                <a:latin typeface="Georgia"/>
                <a:ea typeface="SimSun"/>
                <a:cs typeface="Georgia"/>
              </a:rPr>
              <a:t>04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04950" y="3429000"/>
            <a:ext cx="14382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上下文预算引擎</a:t>
            </a:r>
          </a:p>
        </p:txBody>
      </p:sp>
      <p:sp>
        <p:nvSpPr>
          <p:cNvPr id="19" name="Rectangle 19"/>
          <p:cNvSpPr/>
          <p:nvPr/>
        </p:nvSpPr>
        <p:spPr>
          <a:xfrm>
            <a:off x="762000" y="3857625"/>
            <a:ext cx="104775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1026795" y="3984308"/>
            <a:ext cx="2960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B6CB0"/>
                </a:solidFill>
                <a:latin typeface="Georgia"/>
                <a:ea typeface="SimSun"/>
                <a:cs typeface="Georgia"/>
              </a:rPr>
              <a:t>05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504950" y="4000500"/>
            <a:ext cx="1238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冲突闭环机制</a:t>
            </a:r>
          </a:p>
        </p:txBody>
      </p:sp>
      <p:sp>
        <p:nvSpPr>
          <p:cNvPr id="22" name="Rectangle 22"/>
          <p:cNvSpPr/>
          <p:nvPr/>
        </p:nvSpPr>
        <p:spPr>
          <a:xfrm>
            <a:off x="762000" y="4429125"/>
            <a:ext cx="104775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3" name="TextBox 23"/>
          <p:cNvSpPr txBox="1"/>
          <p:nvPr/>
        </p:nvSpPr>
        <p:spPr>
          <a:xfrm>
            <a:off x="1026795" y="4555808"/>
            <a:ext cx="2960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B6CB0"/>
                </a:solidFill>
                <a:latin typeface="Georgia"/>
                <a:ea typeface="SimSun"/>
                <a:cs typeface="Georgia"/>
              </a:rPr>
              <a:t>06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04950" y="4572000"/>
            <a:ext cx="1838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系统实现与实验评估</a:t>
            </a:r>
          </a:p>
        </p:txBody>
      </p:sp>
      <p:sp>
        <p:nvSpPr>
          <p:cNvPr id="25" name="Rectangle 25"/>
          <p:cNvSpPr/>
          <p:nvPr/>
        </p:nvSpPr>
        <p:spPr>
          <a:xfrm>
            <a:off x="762000" y="5000625"/>
            <a:ext cx="104775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6" name="TextBox 26"/>
          <p:cNvSpPr txBox="1"/>
          <p:nvPr/>
        </p:nvSpPr>
        <p:spPr>
          <a:xfrm>
            <a:off x="1026795" y="5127308"/>
            <a:ext cx="2960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2B6CB0"/>
                </a:solidFill>
                <a:latin typeface="Georgia"/>
                <a:ea typeface="SimSun"/>
                <a:cs typeface="Georgia"/>
              </a:rPr>
              <a:t>07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504950" y="5143500"/>
            <a:ext cx="10382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总结与展望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2985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718096"/>
                </a:solidFill>
                <a:latin typeface="Georgia"/>
                <a:ea typeface="Microsoft YaHei"/>
                <a:cs typeface="Georgia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1520" y="312420"/>
            <a:ext cx="308533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365D"/>
                </a:solidFill>
                <a:latin typeface="Georgia"/>
                <a:ea typeface="Microsoft YaHei"/>
                <a:cs typeface="Georgia"/>
              </a:rPr>
              <a:t>研究背景与问题定义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7429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742950" y="981075"/>
            <a:ext cx="1371767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6CB0"/>
                </a:solidFill>
                <a:latin typeface="Arial"/>
                <a:ea typeface="Microsoft YaHei"/>
                <a:cs typeface="Arial"/>
              </a:rPr>
              <a:t>单 Agent 瓶颈</a:t>
            </a:r>
          </a:p>
        </p:txBody>
      </p:sp>
      <p:sp>
        <p:nvSpPr>
          <p:cNvPr id="7" name="Rectangle 7"/>
          <p:cNvSpPr/>
          <p:nvPr/>
        </p:nvSpPr>
        <p:spPr>
          <a:xfrm>
            <a:off x="762000" y="1333500"/>
            <a:ext cx="49530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8" name="Ellipse 8"/>
          <p:cNvSpPr/>
          <p:nvPr/>
        </p:nvSpPr>
        <p:spPr>
          <a:xfrm>
            <a:off x="904875" y="1524000"/>
            <a:ext cx="190500" cy="190500"/>
          </a:xfrm>
          <a:prstGeom prst="ellipse">
            <a:avLst/>
          </a:prstGeom>
          <a:solidFill>
            <a:srgbClr val="E53E3E">
              <a:alpha val="15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078230" y="1511618"/>
            <a:ext cx="13574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上下文窗口有限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10865" y="1544002"/>
            <a:ext cx="198691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单会话无法容纳完整项目上下文</a:t>
            </a:r>
          </a:p>
        </p:txBody>
      </p:sp>
      <p:sp>
        <p:nvSpPr>
          <p:cNvPr id="11" name="Rectangle 11"/>
          <p:cNvSpPr/>
          <p:nvPr/>
        </p:nvSpPr>
        <p:spPr>
          <a:xfrm>
            <a:off x="762000" y="1952625"/>
            <a:ext cx="49530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2" name="Ellipse 12"/>
          <p:cNvSpPr/>
          <p:nvPr/>
        </p:nvSpPr>
        <p:spPr>
          <a:xfrm>
            <a:off x="904875" y="2143125"/>
            <a:ext cx="190500" cy="190500"/>
          </a:xfrm>
          <a:prstGeom prst="ellipse">
            <a:avLst/>
          </a:prstGeom>
          <a:solidFill>
            <a:srgbClr val="E53E3E">
              <a:alpha val="15000"/>
            </a:srgbClr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078230" y="213074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角色固化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67865" y="2163128"/>
            <a:ext cx="229495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难在"编码"与"审查"模式间有效切换</a:t>
            </a:r>
          </a:p>
        </p:txBody>
      </p:sp>
      <p:sp>
        <p:nvSpPr>
          <p:cNvPr id="15" name="Rectangle 15"/>
          <p:cNvSpPr/>
          <p:nvPr/>
        </p:nvSpPr>
        <p:spPr>
          <a:xfrm>
            <a:off x="762000" y="2571750"/>
            <a:ext cx="49530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904875" y="2762250"/>
            <a:ext cx="190500" cy="190500"/>
          </a:xfrm>
          <a:prstGeom prst="ellipse">
            <a:avLst/>
          </a:prstGeom>
          <a:solidFill>
            <a:srgbClr val="E53E3E">
              <a:alpha val="15000"/>
            </a:srgbClr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1078230" y="2749868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并行度受限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48840" y="2782252"/>
            <a:ext cx="228795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串行执行无法利用多核 / 分布式计算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076950" y="981075"/>
            <a:ext cx="1791819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6CB0"/>
                </a:solidFill>
                <a:latin typeface="Arial"/>
                <a:ea typeface="Microsoft YaHei"/>
                <a:cs typeface="Arial"/>
              </a:rPr>
              <a:t>多 Agent 协作挑战</a:t>
            </a:r>
          </a:p>
        </p:txBody>
      </p:sp>
      <p:sp>
        <p:nvSpPr>
          <p:cNvPr id="20" name="Rectangle 20"/>
          <p:cNvSpPr/>
          <p:nvPr/>
        </p:nvSpPr>
        <p:spPr>
          <a:xfrm>
            <a:off x="6096000" y="1333500"/>
            <a:ext cx="53340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6286500" y="142875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2B6CB0">
              <a:alpha val="10000"/>
            </a:srgbClr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783705" y="1511618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任务拆解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797165" y="1544002"/>
            <a:ext cx="22669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如何将复杂任务分解为可并行子任务</a:t>
            </a:r>
          </a:p>
        </p:txBody>
      </p:sp>
      <p:sp>
        <p:nvSpPr>
          <p:cNvPr id="24" name="Rectangle 24"/>
          <p:cNvSpPr/>
          <p:nvPr/>
        </p:nvSpPr>
        <p:spPr>
          <a:xfrm>
            <a:off x="6096000" y="1952625"/>
            <a:ext cx="53340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6286500" y="2047875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2B6CB0">
              <a:alpha val="10000"/>
            </a:srgbClr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783705" y="2130742"/>
            <a:ext cx="79038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文件冲突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797165" y="2163128"/>
            <a:ext cx="217593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多 Agent 同时写入时如何避免冲突</a:t>
            </a:r>
          </a:p>
        </p:txBody>
      </p:sp>
      <p:sp>
        <p:nvSpPr>
          <p:cNvPr id="28" name="Rectangle 28"/>
          <p:cNvSpPr/>
          <p:nvPr/>
        </p:nvSpPr>
        <p:spPr>
          <a:xfrm>
            <a:off x="6096000" y="2571750"/>
            <a:ext cx="5334000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6286500" y="2667000"/>
            <a:ext cx="342900" cy="342900"/>
          </a:xfrm>
          <a:prstGeom prst="roundRect">
            <a:avLst>
              <a:gd name="adj" fmla="val 22222"/>
            </a:avLst>
          </a:prstGeom>
          <a:solidFill>
            <a:srgbClr val="2B6CB0">
              <a:alpha val="10000"/>
            </a:srgbClr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6783705" y="2749868"/>
            <a:ext cx="97940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上下文管理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149590" y="2782252"/>
            <a:ext cx="23159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多 Agent 的有限上下文窗口如何调度</a:t>
            </a:r>
          </a:p>
        </p:txBody>
      </p:sp>
      <p:sp>
        <p:nvSpPr>
          <p:cNvPr id="32" name="Rectangle 32"/>
          <p:cNvSpPr/>
          <p:nvPr/>
        </p:nvSpPr>
        <p:spPr>
          <a:xfrm>
            <a:off x="762000" y="3381375"/>
            <a:ext cx="10668000" cy="1714500"/>
          </a:xfrm>
          <a:prstGeom prst="roundRect">
            <a:avLst>
              <a:gd name="adj" fmla="val 6667"/>
            </a:avLst>
          </a:prstGeom>
          <a:solidFill>
            <a:srgbClr val="1A365D">
              <a:alpha val="5000"/>
            </a:srgbClr>
          </a:solidFill>
          <a:ln w="9525">
            <a:solidFill>
              <a:srgbClr val="E2E8F0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1028700" y="3552825"/>
            <a:ext cx="6706433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365D"/>
                </a:solidFill>
                <a:latin typeface="Georgia"/>
                <a:ea typeface="Microsoft YaHei"/>
                <a:cs typeface="Georgia"/>
              </a:rPr>
              <a:t>核心问题：如何构建一个能统一接入多种 Agent CLI、有效管理上下文、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8700" y="3838575"/>
            <a:ext cx="4102108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365D"/>
                </a:solidFill>
                <a:latin typeface="Georgia"/>
                <a:ea typeface="Microsoft YaHei"/>
                <a:cs typeface="Georgia"/>
              </a:rPr>
              <a:t>确保并行编辑一致性的多 Agent 协作平台？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32510" y="4347210"/>
            <a:ext cx="769543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研究目标：设计 Polynoia —— IM 形态的多 Agent 协作系统，实现三层协议架构 + 四层上下文预算 + 冲突闭环</a:t>
            </a:r>
          </a:p>
        </p:txBody>
      </p:sp>
      <p:sp>
        <p:nvSpPr>
          <p:cNvPr id="36" name="Rectangle 36"/>
          <p:cNvSpPr/>
          <p:nvPr/>
        </p:nvSpPr>
        <p:spPr>
          <a:xfrm>
            <a:off x="6096000" y="1076325"/>
            <a:ext cx="38100" cy="1905000"/>
          </a:xfrm>
          <a:prstGeom prst="rect">
            <a:avLst/>
          </a:prstGeom>
          <a:solidFill>
            <a:srgbClr val="2B6CB0">
              <a:alpha val="15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112985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718096"/>
                </a:solidFill>
                <a:latin typeface="Georgia"/>
                <a:ea typeface="Microsoft YaHei"/>
                <a:cs typeface="Georgia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1520" y="312420"/>
            <a:ext cx="2749296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365D"/>
                </a:solidFill>
                <a:latin typeface="Georgia"/>
                <a:ea typeface="Microsoft YaHei"/>
                <a:cs typeface="Georgia"/>
              </a:rPr>
              <a:t>研究内容与创新点</a:t>
            </a:r>
          </a:p>
        </p:txBody>
      </p:sp>
      <p:sp>
        <p:nvSpPr>
          <p:cNvPr id="5" name="Line 5"/>
          <p:cNvSpPr/>
          <p:nvPr/>
        </p:nvSpPr>
        <p:spPr>
          <a:xfrm>
            <a:off x="762000" y="74295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6" name="Rectangle 6"/>
          <p:cNvSpPr/>
          <p:nvPr/>
        </p:nvSpPr>
        <p:spPr>
          <a:xfrm>
            <a:off x="762000" y="1000125"/>
            <a:ext cx="514350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62000" y="1000125"/>
            <a:ext cx="5143500" cy="5715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1047750" y="1285875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2B6CB0">
              <a:alpha val="10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693545" y="1393508"/>
            <a:ext cx="16591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365D"/>
                </a:solidFill>
                <a:latin typeface="Georgia"/>
                <a:ea typeface="Microsoft YaHei"/>
                <a:cs typeface="Georgia"/>
              </a:rPr>
              <a:t>统一适配器架构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32510" y="1870710"/>
            <a:ext cx="239877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PAP 协议统一接入 Claude Code、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2510" y="2099310"/>
            <a:ext cx="216674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OpenCode、Codex 三大 CLI，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2510" y="2327910"/>
            <a:ext cx="201472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Adapter Pool 支持并发调度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2985" y="2599372"/>
            <a:ext cx="199699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B6CB0"/>
                </a:solidFill>
                <a:latin typeface="Georgia"/>
                <a:ea typeface="SimSun"/>
                <a:cs typeface="Georgia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38262" y="2688431"/>
            <a:ext cx="94368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CLI Adapters</a:t>
            </a:r>
          </a:p>
        </p:txBody>
      </p:sp>
      <p:sp>
        <p:nvSpPr>
          <p:cNvPr id="15" name="Rectangle 15"/>
          <p:cNvSpPr/>
          <p:nvPr/>
        </p:nvSpPr>
        <p:spPr>
          <a:xfrm>
            <a:off x="6286500" y="1000125"/>
            <a:ext cx="514350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6286500" y="1000125"/>
            <a:ext cx="5143500" cy="5715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6572250" y="1285875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2B6CB0">
              <a:alpha val="10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7218045" y="1393508"/>
            <a:ext cx="212117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365D"/>
                </a:solidFill>
                <a:latin typeface="Georgia"/>
                <a:ea typeface="Microsoft YaHei"/>
                <a:cs typeface="Georgia"/>
              </a:rPr>
              <a:t>四层上下文预算引擎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57010" y="1870710"/>
            <a:ext cx="250278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系统层 / 历史层 / 工具层 / 扩散层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557010" y="2099310"/>
            <a:ext cx="229476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分区分治，滑动窗口 + 摘要压缩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557010" y="2327910"/>
            <a:ext cx="2006727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支持多 Agent 共享有限窗口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547485" y="2599372"/>
            <a:ext cx="50003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38A169"/>
                </a:solidFill>
                <a:latin typeface="Georgia"/>
                <a:ea typeface="SimSun"/>
                <a:cs typeface="Georgia"/>
              </a:rPr>
              <a:t>43%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319962" y="2688431"/>
            <a:ext cx="936188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Token 节省率</a:t>
            </a:r>
          </a:p>
        </p:txBody>
      </p:sp>
      <p:sp>
        <p:nvSpPr>
          <p:cNvPr id="24" name="Rectangle 24"/>
          <p:cNvSpPr/>
          <p:nvPr/>
        </p:nvSpPr>
        <p:spPr>
          <a:xfrm>
            <a:off x="762000" y="3714750"/>
            <a:ext cx="514350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762000" y="3714750"/>
            <a:ext cx="5143500" cy="5715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1047750" y="400050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2B6CB0">
              <a:alpha val="10000"/>
            </a:srgbClr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693545" y="4108132"/>
            <a:ext cx="14280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365D"/>
                </a:solidFill>
                <a:latin typeface="Georgia"/>
                <a:ea typeface="Microsoft YaHei"/>
                <a:cs typeface="Georgia"/>
              </a:rPr>
              <a:t>冲突闭环机制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32510" y="4585335"/>
            <a:ext cx="2654808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pending-edit 门控 + Git Three-way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32510" y="4813935"/>
            <a:ext cx="231076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Merge 自动合并，冲突自动检测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32510" y="5042535"/>
            <a:ext cx="203073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BurstCard 可视化冲突 lane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22985" y="5313998"/>
            <a:ext cx="500036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38A169"/>
                </a:solidFill>
                <a:latin typeface="Georgia"/>
                <a:ea typeface="SimSun"/>
                <a:cs typeface="Georgia"/>
              </a:rPr>
              <a:t>67%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700212" y="5403056"/>
            <a:ext cx="122872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冲突解决时间缩短</a:t>
            </a:r>
          </a:p>
        </p:txBody>
      </p:sp>
      <p:sp>
        <p:nvSpPr>
          <p:cNvPr id="33" name="Rectangle 33"/>
          <p:cNvSpPr/>
          <p:nvPr/>
        </p:nvSpPr>
        <p:spPr>
          <a:xfrm>
            <a:off x="6286500" y="3714750"/>
            <a:ext cx="514350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6286500" y="3714750"/>
            <a:ext cx="5143500" cy="5715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6572250" y="4000500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2B6CB0">
              <a:alpha val="10000"/>
            </a:srgbClr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7218045" y="4108132"/>
            <a:ext cx="173997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365D"/>
                </a:solidFill>
                <a:latin typeface="Georgia"/>
                <a:ea typeface="Microsoft YaHei"/>
                <a:cs typeface="Georgia"/>
              </a:rPr>
              <a:t>IM 形态协作界面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557010" y="4585335"/>
            <a:ext cx="1878711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MessagePart 注册表模式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557010" y="4813935"/>
            <a:ext cx="1974723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17 种消息卡片类型并行展示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557010" y="5042535"/>
            <a:ext cx="25587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类 Slack / Lark 多 Agent 聊天体验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547485" y="5313998"/>
            <a:ext cx="281609" cy="396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950" b="1" dirty="0">
                <a:solidFill>
                  <a:srgbClr val="2B6CB0"/>
                </a:solidFill>
                <a:latin typeface="Georgia"/>
                <a:ea typeface="SimSun"/>
                <a:cs typeface="Georgia"/>
              </a:rPr>
              <a:t>17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034212" y="5403056"/>
            <a:ext cx="138624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MessagePart Kinds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2985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718096"/>
                </a:solidFill>
                <a:latin typeface="Georgia"/>
                <a:ea typeface="Microsoft YaHei"/>
                <a:cs typeface="Georgia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1520" y="312420"/>
            <a:ext cx="377422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365D"/>
                </a:solidFill>
                <a:latin typeface="Georgia"/>
                <a:ea typeface="Microsoft YaHei"/>
                <a:cs typeface="Georgia"/>
              </a:rPr>
              <a:t>系统总体架构 — Polynoia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8665" y="724852"/>
            <a:ext cx="51233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THREE-TIER COLLABORATION PLATFORM WITH PROTOCOL-BASED ADAPTER LAYER</a:t>
            </a:r>
          </a:p>
        </p:txBody>
      </p:sp>
      <p:sp>
        <p:nvSpPr>
          <p:cNvPr id="6" name="Rectangle 6"/>
          <p:cNvSpPr/>
          <p:nvPr/>
        </p:nvSpPr>
        <p:spPr>
          <a:xfrm>
            <a:off x="381000" y="1095375"/>
            <a:ext cx="381000" cy="1238250"/>
          </a:xfrm>
          <a:prstGeom prst="roundRect">
            <a:avLst>
              <a:gd name="adj" fmla="val 20000"/>
            </a:avLst>
          </a:prstGeom>
          <a:solidFill>
            <a:srgbClr val="2B6CB0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423479" y="1612582"/>
            <a:ext cx="2960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03</a:t>
            </a:r>
          </a:p>
        </p:txBody>
      </p:sp>
      <p:sp>
        <p:nvSpPr>
          <p:cNvPr id="8" name="Rectangle 8"/>
          <p:cNvSpPr/>
          <p:nvPr/>
        </p:nvSpPr>
        <p:spPr>
          <a:xfrm>
            <a:off x="914400" y="1095375"/>
            <a:ext cx="10896600" cy="1238250"/>
          </a:xfrm>
          <a:prstGeom prst="roundRect">
            <a:avLst>
              <a:gd name="adj" fmla="val 9231"/>
            </a:avLst>
          </a:prstGeom>
          <a:solidFill>
            <a:srgbClr val="EBF8FF">
              <a:alpha val="40000"/>
            </a:srgbClr>
          </a:solidFill>
          <a:ln w="14288">
            <a:solidFill>
              <a:srgbClr val="90CDF4"/>
            </a:solidFill>
            <a:custDash>
              <a:ds d="400000" sp="266666"/>
            </a:custDash>
          </a:ln>
        </p:spPr>
      </p:sp>
      <p:sp>
        <p:nvSpPr>
          <p:cNvPr id="9" name="TextBox 9"/>
          <p:cNvSpPr txBox="1"/>
          <p:nvPr/>
        </p:nvSpPr>
        <p:spPr>
          <a:xfrm>
            <a:off x="4736003" y="1209199"/>
            <a:ext cx="325339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2B6CB0"/>
                </a:solidFill>
                <a:latin typeface="Arial"/>
                <a:ea typeface="Microsoft YaHei"/>
                <a:cs typeface="Arial"/>
              </a:rPr>
              <a:t>交互与展示层 · INTERACTION &amp; PRESENTATION LAYER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85850" y="1504950"/>
            <a:ext cx="2190750" cy="666750"/>
            <a:chOff x="1085850" y="1504950"/>
            <a:chExt cx="2190750" cy="66675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10" name="Rectangle 10"/>
            <p:cNvSpPr/>
            <p:nvPr/>
          </p:nvSpPr>
          <p:spPr>
            <a:xfrm>
              <a:off x="1085850" y="1504950"/>
              <a:ext cx="2190750" cy="66675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1599867" y="1650206"/>
              <a:ext cx="1162717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FastAPI Server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57719" y="1903095"/>
              <a:ext cx="1247013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REST + WebSocket API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409950" y="1504950"/>
            <a:ext cx="2190750" cy="666750"/>
            <a:chOff x="3409950" y="1504950"/>
            <a:chExt cx="2190750" cy="66675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14" name="Rectangle 14"/>
            <p:cNvSpPr/>
            <p:nvPr/>
          </p:nvSpPr>
          <p:spPr>
            <a:xfrm>
              <a:off x="3409950" y="1504950"/>
              <a:ext cx="2190750" cy="66675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5" name="TextBox 15"/>
            <p:cNvSpPr txBox="1"/>
            <p:nvPr/>
          </p:nvSpPr>
          <p:spPr>
            <a:xfrm>
              <a:off x="3904277" y="1650206"/>
              <a:ext cx="1202097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React Frontend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464766" y="1903095"/>
              <a:ext cx="2081117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BurstCard · MessagePart · 17 Kinds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34050" y="1504950"/>
            <a:ext cx="2190750" cy="666750"/>
            <a:chOff x="5734050" y="1504950"/>
            <a:chExt cx="2190750" cy="66675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18" name="Rectangle 18"/>
            <p:cNvSpPr/>
            <p:nvPr/>
          </p:nvSpPr>
          <p:spPr>
            <a:xfrm>
              <a:off x="5734050" y="1504950"/>
              <a:ext cx="2190750" cy="66675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19" name="TextBox 19"/>
            <p:cNvSpPr txBox="1"/>
            <p:nvPr/>
          </p:nvSpPr>
          <p:spPr>
            <a:xfrm>
              <a:off x="6177183" y="1650206"/>
              <a:ext cx="1304484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AI SDK 6 Protocol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070902" y="1903095"/>
              <a:ext cx="1517047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28 Chunk Types · SSE / WS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058150" y="1504950"/>
            <a:ext cx="2190750" cy="666750"/>
            <a:chOff x="8058150" y="1504950"/>
            <a:chExt cx="2190750" cy="66675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22" name="Rectangle 22"/>
            <p:cNvSpPr/>
            <p:nvPr/>
          </p:nvSpPr>
          <p:spPr>
            <a:xfrm>
              <a:off x="8058150" y="1504950"/>
              <a:ext cx="2190750" cy="66675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8422523" y="1650206"/>
              <a:ext cx="1462004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Pydantic v2 Models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76012" y="1903095"/>
              <a:ext cx="1355026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12 Message Kinds · ULID</a:t>
              </a:r>
            </a:p>
          </p:txBody>
        </p:sp>
      </p:grpSp>
      <p:sp>
        <p:nvSpPr>
          <p:cNvPr id="26" name="Rectangle 26"/>
          <p:cNvSpPr/>
          <p:nvPr/>
        </p:nvSpPr>
        <p:spPr>
          <a:xfrm>
            <a:off x="381000" y="2571750"/>
            <a:ext cx="381000" cy="1238250"/>
          </a:xfrm>
          <a:prstGeom prst="roundRect">
            <a:avLst>
              <a:gd name="adj" fmla="val 20000"/>
            </a:avLst>
          </a:prstGeom>
          <a:solidFill>
            <a:srgbClr val="1A365D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423479" y="3088958"/>
            <a:ext cx="2960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02</a:t>
            </a:r>
          </a:p>
        </p:txBody>
      </p:sp>
      <p:sp>
        <p:nvSpPr>
          <p:cNvPr id="28" name="Rectangle 28"/>
          <p:cNvSpPr/>
          <p:nvPr/>
        </p:nvSpPr>
        <p:spPr>
          <a:xfrm>
            <a:off x="914400" y="2571750"/>
            <a:ext cx="10896600" cy="1238250"/>
          </a:xfrm>
          <a:prstGeom prst="roundRect">
            <a:avLst>
              <a:gd name="adj" fmla="val 9231"/>
            </a:avLst>
          </a:prstGeom>
          <a:solidFill>
            <a:srgbClr val="EDF2F7">
              <a:alpha val="40000"/>
            </a:srgbClr>
          </a:solidFill>
          <a:ln w="14288">
            <a:solidFill>
              <a:srgbClr val="A0AEC0"/>
            </a:solidFill>
            <a:custDash>
              <a:ds d="400000" sp="266666"/>
            </a:custDash>
          </a:ln>
        </p:spPr>
      </p:sp>
      <p:sp>
        <p:nvSpPr>
          <p:cNvPr id="29" name="TextBox 29"/>
          <p:cNvSpPr txBox="1"/>
          <p:nvPr/>
        </p:nvSpPr>
        <p:spPr>
          <a:xfrm>
            <a:off x="4732590" y="2685574"/>
            <a:ext cx="32602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1A365D"/>
                </a:solidFill>
                <a:latin typeface="Arial"/>
                <a:ea typeface="Microsoft YaHei"/>
                <a:cs typeface="Arial"/>
              </a:rPr>
              <a:t>调度与上下文层 · ORCHESTRATION &amp; CONTEXT LAYER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085850" y="2981325"/>
            <a:ext cx="2419350" cy="666750"/>
            <a:chOff x="1085850" y="2981325"/>
            <a:chExt cx="2419350" cy="66675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30" name="Rectangle 30"/>
            <p:cNvSpPr/>
            <p:nvPr/>
          </p:nvSpPr>
          <p:spPr>
            <a:xfrm>
              <a:off x="1085850" y="2981325"/>
              <a:ext cx="2419350" cy="66675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31" name="TextBox 31"/>
            <p:cNvSpPr txBox="1"/>
            <p:nvPr/>
          </p:nvSpPr>
          <p:spPr>
            <a:xfrm>
              <a:off x="1505453" y="3126581"/>
              <a:ext cx="1580144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Orchestrator Agent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864043" y="3379470"/>
              <a:ext cx="862965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任务分解与分配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3638550" y="2981325"/>
            <a:ext cx="2419350" cy="666750"/>
            <a:chOff x="3638550" y="2981325"/>
            <a:chExt cx="2419350" cy="66675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34" name="Rectangle 34"/>
            <p:cNvSpPr/>
            <p:nvPr/>
          </p:nvSpPr>
          <p:spPr>
            <a:xfrm>
              <a:off x="3638550" y="2981325"/>
              <a:ext cx="2419350" cy="66675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35" name="TextBox 35"/>
            <p:cNvSpPr txBox="1"/>
            <p:nvPr/>
          </p:nvSpPr>
          <p:spPr>
            <a:xfrm>
              <a:off x="3983331" y="3126581"/>
              <a:ext cx="1729788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Context Budget Engine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954685" y="3379470"/>
              <a:ext cx="1787080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4-Layer Budget · Token Saving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191250" y="2981325"/>
            <a:ext cx="2419350" cy="666750"/>
            <a:chOff x="6191250" y="2981325"/>
            <a:chExt cx="2419350" cy="66675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38" name="Rectangle 38"/>
            <p:cNvSpPr/>
            <p:nvPr/>
          </p:nvSpPr>
          <p:spPr>
            <a:xfrm>
              <a:off x="6191250" y="2981325"/>
              <a:ext cx="2419350" cy="66675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39" name="TextBox 39"/>
            <p:cNvSpPr txBox="1"/>
            <p:nvPr/>
          </p:nvSpPr>
          <p:spPr>
            <a:xfrm>
              <a:off x="6957396" y="3126581"/>
              <a:ext cx="887057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MCP Server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88395" y="3379470"/>
              <a:ext cx="1625060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Role-based Tools · Security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743950" y="2981325"/>
            <a:ext cx="2419350" cy="666750"/>
            <a:chOff x="8743950" y="2981325"/>
            <a:chExt cx="2419350" cy="66675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42" name="Rectangle 42"/>
            <p:cNvSpPr/>
            <p:nvPr/>
          </p:nvSpPr>
          <p:spPr>
            <a:xfrm>
              <a:off x="8743950" y="2981325"/>
              <a:ext cx="2419350" cy="66675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43" name="TextBox 43"/>
            <p:cNvSpPr txBox="1"/>
            <p:nvPr/>
          </p:nvSpPr>
          <p:spPr>
            <a:xfrm>
              <a:off x="9636112" y="3126581"/>
              <a:ext cx="635026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Sandbox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9033081" y="3379470"/>
              <a:ext cx="1841087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Isolated Workspace · Git Merge</a:t>
              </a:r>
            </a:p>
          </p:txBody>
        </p:sp>
      </p:grpSp>
      <p:sp>
        <p:nvSpPr>
          <p:cNvPr id="46" name="Rectangle 46"/>
          <p:cNvSpPr/>
          <p:nvPr/>
        </p:nvSpPr>
        <p:spPr>
          <a:xfrm>
            <a:off x="381000" y="4048125"/>
            <a:ext cx="381000" cy="1238250"/>
          </a:xfrm>
          <a:prstGeom prst="roundRect">
            <a:avLst>
              <a:gd name="adj" fmla="val 20000"/>
            </a:avLst>
          </a:prstGeom>
          <a:solidFill>
            <a:srgbClr val="3182CE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452358" y="4565332"/>
            <a:ext cx="23828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01</a:t>
            </a:r>
          </a:p>
        </p:txBody>
      </p:sp>
      <p:sp>
        <p:nvSpPr>
          <p:cNvPr id="48" name="Rectangle 48"/>
          <p:cNvSpPr/>
          <p:nvPr/>
        </p:nvSpPr>
        <p:spPr>
          <a:xfrm>
            <a:off x="914400" y="4048125"/>
            <a:ext cx="10896600" cy="1238250"/>
          </a:xfrm>
          <a:prstGeom prst="roundRect">
            <a:avLst>
              <a:gd name="adj" fmla="val 9231"/>
            </a:avLst>
          </a:prstGeom>
          <a:solidFill>
            <a:srgbClr val="EBF8FF">
              <a:alpha val="60000"/>
            </a:srgbClr>
          </a:solidFill>
          <a:ln w="14288">
            <a:solidFill>
              <a:srgbClr val="90CDF4"/>
            </a:solidFill>
            <a:custDash>
              <a:ds d="400000" sp="266666"/>
            </a:custDash>
          </a:ln>
        </p:spPr>
      </p:sp>
      <p:sp>
        <p:nvSpPr>
          <p:cNvPr id="49" name="TextBox 49"/>
          <p:cNvSpPr txBox="1"/>
          <p:nvPr/>
        </p:nvSpPr>
        <p:spPr>
          <a:xfrm>
            <a:off x="5015863" y="4161949"/>
            <a:ext cx="26936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2B6CB0"/>
                </a:solidFill>
                <a:latin typeface="Arial"/>
                <a:ea typeface="Microsoft YaHei"/>
                <a:cs typeface="Arial"/>
              </a:rPr>
              <a:t>适配器层 · ADAPTER LAYER (PAP Protocol)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1085850" y="4457700"/>
            <a:ext cx="3048000" cy="666750"/>
            <a:chOff x="1085850" y="4457700"/>
            <a:chExt cx="3048000" cy="66675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50" name="Rectangle 50"/>
            <p:cNvSpPr/>
            <p:nvPr/>
          </p:nvSpPr>
          <p:spPr>
            <a:xfrm>
              <a:off x="1085850" y="4457700"/>
              <a:ext cx="3048000" cy="66675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51" name="TextBox 51"/>
            <p:cNvSpPr txBox="1"/>
            <p:nvPr/>
          </p:nvSpPr>
          <p:spPr>
            <a:xfrm>
              <a:off x="1878848" y="4602956"/>
              <a:ext cx="1462004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ClaudeCodeAdapter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623298" y="4855845"/>
              <a:ext cx="1973104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subprocess · stream-json output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267200" y="4457700"/>
            <a:ext cx="3048000" cy="666750"/>
            <a:chOff x="4267200" y="4457700"/>
            <a:chExt cx="3048000" cy="66675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54" name="Rectangle 54"/>
            <p:cNvSpPr/>
            <p:nvPr/>
          </p:nvSpPr>
          <p:spPr>
            <a:xfrm>
              <a:off x="4267200" y="4457700"/>
              <a:ext cx="3048000" cy="66675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55" name="TextBox 55"/>
            <p:cNvSpPr txBox="1"/>
            <p:nvPr/>
          </p:nvSpPr>
          <p:spPr>
            <a:xfrm>
              <a:off x="5111392" y="4602956"/>
              <a:ext cx="1359616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OpenCodeAdapter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888659" y="4855845"/>
              <a:ext cx="1805083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ACP v1 · JSON-RPC over NDJSON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7448550" y="4457700"/>
            <a:ext cx="3048000" cy="666750"/>
            <a:chOff x="7448550" y="4457700"/>
            <a:chExt cx="3048000" cy="666750"/>
          </a:xfrm>
          <a:effectLst>
            <a:outerShdw blurRad="76200" dist="19050" dir="5400000" algn="ctr" rotWithShape="0">
              <a:srgbClr val="0F172A">
                <a:alpha val="4500"/>
              </a:srgbClr>
            </a:outerShdw>
          </a:effectLst>
        </p:grpSpPr>
        <p:sp>
          <p:nvSpPr>
            <p:cNvPr id="58" name="Rectangle 58"/>
            <p:cNvSpPr/>
            <p:nvPr/>
          </p:nvSpPr>
          <p:spPr>
            <a:xfrm>
              <a:off x="7448550" y="4457700"/>
              <a:ext cx="3048000" cy="666750"/>
            </a:xfrm>
            <a:prstGeom prst="roundRect">
              <a:avLst>
                <a:gd name="adj" fmla="val 1142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</p:sp>
        <p:sp>
          <p:nvSpPr>
            <p:cNvPr id="59" name="TextBox 59"/>
            <p:cNvSpPr txBox="1"/>
            <p:nvPr/>
          </p:nvSpPr>
          <p:spPr>
            <a:xfrm>
              <a:off x="8438448" y="4602956"/>
              <a:ext cx="1068205" cy="22860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CodexAdapter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445056" y="4855845"/>
              <a:ext cx="1054989" cy="182880"/>
            </a:xfrm>
            <a:prstGeom prst="rect">
              <a:avLst/>
            </a:prstGeom>
            <a:noFill/>
            <a:ln>
              <a:noFill/>
            </a:ln>
            <a:effectLst>
              <a:outerShdw blurRad="76200" dist="19050" dir="5400000" algn="ctr" rotWithShape="0">
                <a:srgbClr val="0F172A">
                  <a:alpha val="4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codex exec --json</a:t>
              </a:r>
            </a:p>
          </p:txBody>
        </p:sp>
      </p:grpSp>
      <p:sp>
        <p:nvSpPr>
          <p:cNvPr id="62" name="Rectangle 62"/>
          <p:cNvSpPr/>
          <p:nvPr/>
        </p:nvSpPr>
        <p:spPr>
          <a:xfrm>
            <a:off x="381000" y="5524500"/>
            <a:ext cx="381000" cy="666750"/>
          </a:xfrm>
          <a:prstGeom prst="roundRect">
            <a:avLst>
              <a:gd name="adj" fmla="val 20000"/>
            </a:avLst>
          </a:prstGeom>
          <a:solidFill>
            <a:srgbClr val="718096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487012" y="5736908"/>
            <a:ext cx="16897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Georgia"/>
                <a:ea typeface="SimSun"/>
                <a:cs typeface="Georgia"/>
              </a:rPr>
              <a:t>S</a:t>
            </a:r>
          </a:p>
        </p:txBody>
      </p:sp>
      <p:sp>
        <p:nvSpPr>
          <p:cNvPr id="64" name="Rectangle 64"/>
          <p:cNvSpPr/>
          <p:nvPr/>
        </p:nvSpPr>
        <p:spPr>
          <a:xfrm>
            <a:off x="914400" y="5524500"/>
            <a:ext cx="10896600" cy="666750"/>
          </a:xfrm>
          <a:prstGeom prst="roundRect">
            <a:avLst>
              <a:gd name="adj" fmla="val 17143"/>
            </a:avLst>
          </a:prstGeom>
          <a:solidFill>
            <a:srgbClr val="F7FAFC"/>
          </a:solidFill>
          <a:ln w="14288">
            <a:solidFill>
              <a:srgbClr val="E2E8F0"/>
            </a:solidFill>
            <a:custDash>
              <a:ds d="400000" sp="266666"/>
            </a:custDash>
          </a:ln>
        </p:spPr>
      </p:sp>
      <p:sp>
        <p:nvSpPr>
          <p:cNvPr id="65" name="TextBox 65"/>
          <p:cNvSpPr txBox="1"/>
          <p:nvPr/>
        </p:nvSpPr>
        <p:spPr>
          <a:xfrm>
            <a:off x="5346917" y="5590699"/>
            <a:ext cx="203156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STACK · DATA &amp; INFRASTRUCTURE</a:t>
            </a:r>
          </a:p>
        </p:txBody>
      </p:sp>
      <p:sp>
        <p:nvSpPr>
          <p:cNvPr id="66" name="Rectangle 66"/>
          <p:cNvSpPr/>
          <p:nvPr/>
        </p:nvSpPr>
        <p:spPr>
          <a:xfrm>
            <a:off x="1104900" y="5829300"/>
            <a:ext cx="2000250" cy="2667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7" name="TextBox 67"/>
          <p:cNvSpPr txBox="1"/>
          <p:nvPr/>
        </p:nvSpPr>
        <p:spPr>
          <a:xfrm>
            <a:off x="1475518" y="5922645"/>
            <a:ext cx="125901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Python 3.12 + FastAPI</a:t>
            </a:r>
          </a:p>
        </p:txBody>
      </p:sp>
      <p:sp>
        <p:nvSpPr>
          <p:cNvPr id="68" name="Rectangle 68"/>
          <p:cNvSpPr/>
          <p:nvPr/>
        </p:nvSpPr>
        <p:spPr>
          <a:xfrm>
            <a:off x="3219450" y="5829300"/>
            <a:ext cx="2000250" cy="2667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69" name="TextBox 69"/>
          <p:cNvSpPr txBox="1"/>
          <p:nvPr/>
        </p:nvSpPr>
        <p:spPr>
          <a:xfrm>
            <a:off x="3404045" y="5922645"/>
            <a:ext cx="163106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React 18 + TypeScript + Vite</a:t>
            </a:r>
          </a:p>
        </p:txBody>
      </p:sp>
      <p:sp>
        <p:nvSpPr>
          <p:cNvPr id="70" name="Rectangle 70"/>
          <p:cNvSpPr/>
          <p:nvPr/>
        </p:nvSpPr>
        <p:spPr>
          <a:xfrm>
            <a:off x="5334000" y="5829300"/>
            <a:ext cx="2000250" cy="2667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1" name="TextBox 71"/>
          <p:cNvSpPr txBox="1"/>
          <p:nvPr/>
        </p:nvSpPr>
        <p:spPr>
          <a:xfrm>
            <a:off x="5845635" y="5922645"/>
            <a:ext cx="97697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SQLite + Alembic</a:t>
            </a:r>
          </a:p>
        </p:txBody>
      </p:sp>
      <p:sp>
        <p:nvSpPr>
          <p:cNvPr id="72" name="Rectangle 72"/>
          <p:cNvSpPr/>
          <p:nvPr/>
        </p:nvSpPr>
        <p:spPr>
          <a:xfrm>
            <a:off x="7448550" y="5829300"/>
            <a:ext cx="2000250" cy="2667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3" name="TextBox 73"/>
          <p:cNvSpPr txBox="1"/>
          <p:nvPr/>
        </p:nvSpPr>
        <p:spPr>
          <a:xfrm>
            <a:off x="7741158" y="5922645"/>
            <a:ext cx="141503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LiteLLM + Tool Whitelist</a:t>
            </a:r>
          </a:p>
        </p:txBody>
      </p:sp>
      <p:sp>
        <p:nvSpPr>
          <p:cNvPr id="74" name="Rectangle 74"/>
          <p:cNvSpPr/>
          <p:nvPr/>
        </p:nvSpPr>
        <p:spPr>
          <a:xfrm>
            <a:off x="9563100" y="5829300"/>
            <a:ext cx="2000250" cy="266700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75" name="TextBox 75"/>
          <p:cNvSpPr txBox="1"/>
          <p:nvPr/>
        </p:nvSpPr>
        <p:spPr>
          <a:xfrm>
            <a:off x="9819704" y="5922645"/>
            <a:ext cx="148704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Git Sandbox + Subprocess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2985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718096"/>
                </a:solidFill>
                <a:latin typeface="Georgia"/>
                <a:ea typeface="Microsoft YaHei"/>
                <a:cs typeface="Georgia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1520" y="312420"/>
            <a:ext cx="207721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365D"/>
                </a:solidFill>
                <a:latin typeface="Georgia"/>
                <a:ea typeface="Microsoft YaHei"/>
                <a:cs typeface="Georgia"/>
              </a:rPr>
              <a:t>三层协议设计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8665" y="724852"/>
            <a:ext cx="315606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PAP · ACP · AI SDK 6 — THREE PROTOCOL BRIDGES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9525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62000" y="1143000"/>
            <a:ext cx="34290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90CDF4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1143000"/>
            <a:ext cx="3429000" cy="57150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1047750" y="135255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2B6CB0">
              <a:alpha val="8000"/>
            </a:srgbClr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750695" y="1488758"/>
            <a:ext cx="42310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365D"/>
                </a:solidFill>
                <a:latin typeface="Georgia"/>
                <a:ea typeface="Microsoft YaHei"/>
                <a:cs typeface="Georgia"/>
              </a:rPr>
              <a:t>PAP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34415" y="1886902"/>
            <a:ext cx="186089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Protocol for Agent Pipeline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35368" y="2104549"/>
            <a:ext cx="127292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Adapter ↔ Server 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5368" y="2323624"/>
            <a:ext cx="141593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NDJSON, stdin/stdout</a:t>
            </a:r>
          </a:p>
        </p:txBody>
      </p:sp>
      <p:sp>
        <p:nvSpPr>
          <p:cNvPr id="14" name="Rectangle 14"/>
          <p:cNvSpPr/>
          <p:nvPr/>
        </p:nvSpPr>
        <p:spPr>
          <a:xfrm>
            <a:off x="1047750" y="2619375"/>
            <a:ext cx="2857500" cy="285750"/>
          </a:xfrm>
          <a:prstGeom prst="roundRect">
            <a:avLst>
              <a:gd name="adj" fmla="val 20000"/>
            </a:avLst>
          </a:prstGeom>
          <a:solidFill>
            <a:srgbClr val="EBF8FF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702675" y="2712720"/>
            <a:ext cx="154765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B6CB0"/>
                </a:solidFill>
                <a:latin typeface="Arial"/>
                <a:ea typeface="Microsoft YaHei"/>
                <a:cs typeface="Arial"/>
              </a:rPr>
              <a:t>子进程 subprocess.Popen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36320" y="3093720"/>
            <a:ext cx="165506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Arial"/>
                <a:ea typeface="Microsoft YaHei"/>
                <a:cs typeface="Arial"/>
              </a:rPr>
              <a:t>Adapter Protocol base class</a:t>
            </a:r>
          </a:p>
        </p:txBody>
      </p:sp>
      <p:sp>
        <p:nvSpPr>
          <p:cNvPr id="17" name="Rectangle 17"/>
          <p:cNvSpPr/>
          <p:nvPr/>
        </p:nvSpPr>
        <p:spPr>
          <a:xfrm>
            <a:off x="4381500" y="1143000"/>
            <a:ext cx="34290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A0AEC0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4381500" y="1143000"/>
            <a:ext cx="3429000" cy="57150"/>
          </a:xfrm>
          <a:prstGeom prst="roundRect">
            <a:avLst>
              <a:gd name="adj" fmla="val 50000"/>
            </a:avLst>
          </a:prstGeom>
          <a:solidFill>
            <a:srgbClr val="1A365D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4667250" y="135255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1A365D">
              <a:alpha val="8000"/>
            </a:srgbClr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5370195" y="1488758"/>
            <a:ext cx="68879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365D"/>
                </a:solidFill>
                <a:latin typeface="Georgia"/>
                <a:ea typeface="Microsoft YaHei"/>
                <a:cs typeface="Georgia"/>
              </a:rPr>
              <a:t>ACP v1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653915" y="1886902"/>
            <a:ext cx="146885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Agent Client Protocol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654868" y="2104549"/>
            <a:ext cx="14419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OpenCode ↔ Adapter 层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654868" y="2323624"/>
            <a:ext cx="144194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JSON-RPC over NDJSON</a:t>
            </a:r>
          </a:p>
        </p:txBody>
      </p:sp>
      <p:sp>
        <p:nvSpPr>
          <p:cNvPr id="24" name="Rectangle 24"/>
          <p:cNvSpPr/>
          <p:nvPr/>
        </p:nvSpPr>
        <p:spPr>
          <a:xfrm>
            <a:off x="4667250" y="2619375"/>
            <a:ext cx="2857500" cy="285750"/>
          </a:xfrm>
          <a:prstGeom prst="roundRect">
            <a:avLst>
              <a:gd name="adj" fmla="val 20000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5375731" y="2712720"/>
            <a:ext cx="144053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A365D"/>
                </a:solidFill>
                <a:latin typeface="Arial"/>
                <a:ea typeface="Microsoft YaHei"/>
                <a:cs typeface="Arial"/>
              </a:rPr>
              <a:t>Zed Industries 开放标准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55820" y="3093720"/>
            <a:ext cx="158905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Arial"/>
                <a:ea typeface="Microsoft YaHei"/>
                <a:cs typeface="Arial"/>
              </a:rPr>
              <a:t>initialize / session/prompt</a:t>
            </a:r>
          </a:p>
        </p:txBody>
      </p:sp>
      <p:sp>
        <p:nvSpPr>
          <p:cNvPr id="27" name="Rectangle 27"/>
          <p:cNvSpPr/>
          <p:nvPr/>
        </p:nvSpPr>
        <p:spPr>
          <a:xfrm>
            <a:off x="8001000" y="1143000"/>
            <a:ext cx="3429000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288">
            <a:solidFill>
              <a:srgbClr val="63B3ED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8001000" y="1143000"/>
            <a:ext cx="3429000" cy="57150"/>
          </a:xfrm>
          <a:prstGeom prst="roundRect">
            <a:avLst>
              <a:gd name="adj" fmla="val 50000"/>
            </a:avLst>
          </a:prstGeom>
          <a:solidFill>
            <a:srgbClr val="3182CE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8286750" y="1352550"/>
            <a:ext cx="495300" cy="495300"/>
          </a:xfrm>
          <a:prstGeom prst="roundRect">
            <a:avLst>
              <a:gd name="adj" fmla="val 19231"/>
            </a:avLst>
          </a:prstGeom>
          <a:solidFill>
            <a:srgbClr val="3182CE">
              <a:alpha val="8000"/>
            </a:srgbClr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8989695" y="1488758"/>
            <a:ext cx="88516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365D"/>
                </a:solidFill>
                <a:latin typeface="Georgia"/>
                <a:ea typeface="Microsoft YaHei"/>
                <a:cs typeface="Georgia"/>
              </a:rPr>
              <a:t>AI SDK 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273415" y="1886902"/>
            <a:ext cx="151085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Vercel AI SDK Protocol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274368" y="2104549"/>
            <a:ext cx="113640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Server ↔ Client 层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274368" y="2323624"/>
            <a:ext cx="156545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28 Chunk Types · SSE/WS</a:t>
            </a:r>
          </a:p>
        </p:txBody>
      </p:sp>
      <p:sp>
        <p:nvSpPr>
          <p:cNvPr id="34" name="Rectangle 34"/>
          <p:cNvSpPr/>
          <p:nvPr/>
        </p:nvSpPr>
        <p:spPr>
          <a:xfrm>
            <a:off x="8286750" y="2619375"/>
            <a:ext cx="2857500" cy="285750"/>
          </a:xfrm>
          <a:prstGeom prst="roundRect">
            <a:avLst>
              <a:gd name="adj" fmla="val 20000"/>
            </a:avLst>
          </a:prstGeom>
          <a:solidFill>
            <a:srgbClr val="EBF8FF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9014134" y="2712720"/>
            <a:ext cx="14027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B6CB0"/>
                </a:solidFill>
                <a:latin typeface="Arial"/>
                <a:ea typeface="Microsoft YaHei"/>
                <a:cs typeface="Arial"/>
              </a:rPr>
              <a:t>UIMessageChunk 双向流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275320" y="3093720"/>
            <a:ext cx="182908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A0AEC0"/>
                </a:solidFill>
                <a:latin typeface="Arial"/>
                <a:ea typeface="Microsoft YaHei"/>
                <a:cs typeface="Arial"/>
              </a:rPr>
              <a:t>text-delta / tool-call / data-*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62000" y="3714750"/>
            <a:ext cx="10668000" cy="2667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8" name="TextBox 38"/>
          <p:cNvSpPr txBox="1"/>
          <p:nvPr/>
        </p:nvSpPr>
        <p:spPr>
          <a:xfrm>
            <a:off x="1221105" y="3902392"/>
            <a:ext cx="1168432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365D"/>
                </a:solidFill>
                <a:latin typeface="Arial"/>
                <a:ea typeface="Microsoft YaHei"/>
                <a:cs typeface="Arial"/>
              </a:rPr>
              <a:t>协议转换流程</a:t>
            </a:r>
          </a:p>
        </p:txBody>
      </p:sp>
      <p:sp>
        <p:nvSpPr>
          <p:cNvPr id="39" name="Rectangle 39"/>
          <p:cNvSpPr/>
          <p:nvPr/>
        </p:nvSpPr>
        <p:spPr>
          <a:xfrm>
            <a:off x="952500" y="4333875"/>
            <a:ext cx="1619250" cy="523875"/>
          </a:xfrm>
          <a:prstGeom prst="roundRect">
            <a:avLst>
              <a:gd name="adj" fmla="val 14545"/>
            </a:avLst>
          </a:prstGeom>
          <a:solidFill>
            <a:srgbClr val="EBF8FF"/>
          </a:solidFill>
          <a:ln w="9525">
            <a:solidFill>
              <a:srgbClr val="90CDF4"/>
            </a:solidFill>
          </a:ln>
        </p:spPr>
      </p:sp>
      <p:sp>
        <p:nvSpPr>
          <p:cNvPr id="40" name="TextBox 40"/>
          <p:cNvSpPr txBox="1"/>
          <p:nvPr/>
        </p:nvSpPr>
        <p:spPr>
          <a:xfrm>
            <a:off x="1237901" y="4439602"/>
            <a:ext cx="104844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Client Request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65622" y="4646295"/>
            <a:ext cx="119300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REST + WS Commands</a:t>
            </a:r>
          </a:p>
        </p:txBody>
      </p:sp>
      <p:sp>
        <p:nvSpPr>
          <p:cNvPr id="42" name="Line 42"/>
          <p:cNvSpPr/>
          <p:nvPr/>
        </p:nvSpPr>
        <p:spPr>
          <a:xfrm>
            <a:off x="2571750" y="4591050"/>
            <a:ext cx="381000" cy="1"/>
          </a:xfrm>
          <a:prstGeom prst="line">
            <a:avLst/>
          </a:prstGeom>
          <a:noFill/>
          <a:ln w="19050">
            <a:solidFill>
              <a:srgbClr val="2B6CB0"/>
            </a:solidFill>
            <a:tailEnd type="triangle" w="lg" len="lg"/>
          </a:ln>
        </p:spPr>
      </p:sp>
      <p:sp>
        <p:nvSpPr>
          <p:cNvPr id="43" name="Rectangle 43"/>
          <p:cNvSpPr/>
          <p:nvPr/>
        </p:nvSpPr>
        <p:spPr>
          <a:xfrm>
            <a:off x="2971800" y="4333875"/>
            <a:ext cx="1714500" cy="523875"/>
          </a:xfrm>
          <a:prstGeom prst="roundRect">
            <a:avLst>
              <a:gd name="adj" fmla="val 14545"/>
            </a:avLst>
          </a:prstGeom>
          <a:solidFill>
            <a:srgbClr val="EDF2F7"/>
          </a:solidFill>
          <a:ln w="9525">
            <a:solidFill>
              <a:srgbClr val="A0AEC0"/>
            </a:solidFill>
          </a:ln>
        </p:spPr>
      </p:sp>
      <p:sp>
        <p:nvSpPr>
          <p:cNvPr id="44" name="TextBox 44"/>
          <p:cNvSpPr txBox="1"/>
          <p:nvPr/>
        </p:nvSpPr>
        <p:spPr>
          <a:xfrm>
            <a:off x="3268072" y="4439602"/>
            <a:ext cx="112195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Context Budget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3307556" y="4646295"/>
            <a:ext cx="10429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4-Layer Assemble</a:t>
            </a:r>
          </a:p>
        </p:txBody>
      </p:sp>
      <p:sp>
        <p:nvSpPr>
          <p:cNvPr id="46" name="Line 46"/>
          <p:cNvSpPr/>
          <p:nvPr/>
        </p:nvSpPr>
        <p:spPr>
          <a:xfrm>
            <a:off x="4686300" y="4591050"/>
            <a:ext cx="381000" cy="1"/>
          </a:xfrm>
          <a:prstGeom prst="line">
            <a:avLst/>
          </a:prstGeom>
          <a:noFill/>
          <a:ln w="19050">
            <a:solidFill>
              <a:srgbClr val="2B6CB0"/>
            </a:solidFill>
            <a:tailEnd type="triangle" w="lg" len="lg"/>
          </a:ln>
        </p:spPr>
      </p:sp>
      <p:sp>
        <p:nvSpPr>
          <p:cNvPr id="47" name="Rectangle 47"/>
          <p:cNvSpPr/>
          <p:nvPr/>
        </p:nvSpPr>
        <p:spPr>
          <a:xfrm>
            <a:off x="5086350" y="4333875"/>
            <a:ext cx="1714500" cy="523875"/>
          </a:xfrm>
          <a:prstGeom prst="roundRect">
            <a:avLst>
              <a:gd name="adj" fmla="val 14545"/>
            </a:avLst>
          </a:prstGeom>
          <a:solidFill>
            <a:srgbClr val="F0FFF4"/>
          </a:solidFill>
          <a:ln w="9525">
            <a:solidFill>
              <a:srgbClr val="A0AEC0"/>
            </a:solidFill>
          </a:ln>
        </p:spPr>
      </p:sp>
      <p:sp>
        <p:nvSpPr>
          <p:cNvPr id="48" name="TextBox 48"/>
          <p:cNvSpPr txBox="1"/>
          <p:nvPr/>
        </p:nvSpPr>
        <p:spPr>
          <a:xfrm>
            <a:off x="5430403" y="4439602"/>
            <a:ext cx="102639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Orchestrator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692140" y="4646295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任务分配</a:t>
            </a:r>
          </a:p>
        </p:txBody>
      </p:sp>
      <p:sp>
        <p:nvSpPr>
          <p:cNvPr id="50" name="Line 50"/>
          <p:cNvSpPr/>
          <p:nvPr/>
        </p:nvSpPr>
        <p:spPr>
          <a:xfrm>
            <a:off x="6800850" y="4591050"/>
            <a:ext cx="381000" cy="1"/>
          </a:xfrm>
          <a:prstGeom prst="line">
            <a:avLst/>
          </a:prstGeom>
          <a:noFill/>
          <a:ln w="19050">
            <a:solidFill>
              <a:srgbClr val="2B6CB0"/>
            </a:solidFill>
            <a:tailEnd type="triangle" w="lg" len="lg"/>
          </a:ln>
        </p:spPr>
      </p:sp>
      <p:sp>
        <p:nvSpPr>
          <p:cNvPr id="51" name="Rectangle 51"/>
          <p:cNvSpPr/>
          <p:nvPr/>
        </p:nvSpPr>
        <p:spPr>
          <a:xfrm>
            <a:off x="7200900" y="4333875"/>
            <a:ext cx="1714500" cy="523875"/>
          </a:xfrm>
          <a:prstGeom prst="roundRect">
            <a:avLst>
              <a:gd name="adj" fmla="val 14545"/>
            </a:avLst>
          </a:prstGeom>
          <a:solidFill>
            <a:srgbClr val="EBF8FF"/>
          </a:solidFill>
          <a:ln w="9525">
            <a:solidFill>
              <a:srgbClr val="90CDF4"/>
            </a:solidFill>
          </a:ln>
        </p:spPr>
      </p:sp>
      <p:sp>
        <p:nvSpPr>
          <p:cNvPr id="52" name="TextBox 52"/>
          <p:cNvSpPr txBox="1"/>
          <p:nvPr/>
        </p:nvSpPr>
        <p:spPr>
          <a:xfrm>
            <a:off x="7596409" y="4439602"/>
            <a:ext cx="9234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Adapter Pool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7491651" y="4646295"/>
            <a:ext cx="113299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PAP NDJSON Stream</a:t>
            </a:r>
          </a:p>
        </p:txBody>
      </p:sp>
      <p:sp>
        <p:nvSpPr>
          <p:cNvPr id="54" name="Line 54"/>
          <p:cNvSpPr/>
          <p:nvPr/>
        </p:nvSpPr>
        <p:spPr>
          <a:xfrm>
            <a:off x="8915400" y="4591050"/>
            <a:ext cx="381000" cy="1"/>
          </a:xfrm>
          <a:prstGeom prst="line">
            <a:avLst/>
          </a:prstGeom>
          <a:noFill/>
          <a:ln w="19050">
            <a:solidFill>
              <a:srgbClr val="2B6CB0"/>
            </a:solidFill>
            <a:tailEnd type="triangle" w="lg" len="lg"/>
          </a:ln>
        </p:spPr>
      </p:sp>
      <p:sp>
        <p:nvSpPr>
          <p:cNvPr id="55" name="Rectangle 55"/>
          <p:cNvSpPr/>
          <p:nvPr/>
        </p:nvSpPr>
        <p:spPr>
          <a:xfrm>
            <a:off x="9315450" y="4333875"/>
            <a:ext cx="1809750" cy="523875"/>
          </a:xfrm>
          <a:prstGeom prst="roundRect">
            <a:avLst>
              <a:gd name="adj" fmla="val 14545"/>
            </a:avLst>
          </a:prstGeom>
          <a:solidFill>
            <a:srgbClr val="1A365D">
              <a:alpha val="6000"/>
            </a:srgbClr>
          </a:solidFill>
          <a:ln w="9525">
            <a:solidFill>
              <a:srgbClr val="A0AEC0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9765935" y="44396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SSE/WS Push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773841" y="4646295"/>
            <a:ext cx="892969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AI SDK 6 Chunks</a:t>
            </a:r>
          </a:p>
        </p:txBody>
      </p:sp>
      <p:sp>
        <p:nvSpPr>
          <p:cNvPr id="58" name="Rectangle 58"/>
          <p:cNvSpPr/>
          <p:nvPr/>
        </p:nvSpPr>
        <p:spPr>
          <a:xfrm>
            <a:off x="952500" y="5095875"/>
            <a:ext cx="10172700" cy="1104900"/>
          </a:xfrm>
          <a:prstGeom prst="roundRect">
            <a:avLst>
              <a:gd name="adj" fmla="val 6897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</p:sp>
      <p:sp>
        <p:nvSpPr>
          <p:cNvPr id="59" name="TextBox 59"/>
          <p:cNvSpPr txBox="1"/>
          <p:nvPr/>
        </p:nvSpPr>
        <p:spPr>
          <a:xfrm>
            <a:off x="1224915" y="5201602"/>
            <a:ext cx="90878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365D"/>
                </a:solidFill>
                <a:latin typeface="Arial"/>
                <a:ea typeface="Microsoft YaHei"/>
                <a:cs typeface="Arial"/>
              </a:rPr>
              <a:t>关键设计决策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225868" y="5438299"/>
            <a:ext cx="6831116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1. OpenCode Adapter 走 ACP v1 协议 (而非临时 --format json) —— ACP 是 Zed Industries 开放标准，协议层结构化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225868" y="5657374"/>
            <a:ext cx="681161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2. Codex Adapter backend 由用户自配 ~/.codex/config.toml —— 不假设 backend (OpenAI / LiteLLM / Bedrock)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225868" y="5876449"/>
            <a:ext cx="540743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3. 前端用 AI SDK 6 作协议层 (非 assistant-ui) —— 支持多 Agent 消息流 + 28 种 chunk 类型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2985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718096"/>
                </a:solidFill>
                <a:latin typeface="Georgia"/>
                <a:ea typeface="Microsoft YaHei"/>
                <a:cs typeface="Georgia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1520" y="312420"/>
            <a:ext cx="308533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365D"/>
                </a:solidFill>
                <a:latin typeface="Georgia"/>
                <a:ea typeface="Microsoft YaHei"/>
                <a:cs typeface="Georgia"/>
              </a:rPr>
              <a:t>四层上下文预算引擎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8665" y="724852"/>
            <a:ext cx="435321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4-LAYER CONTEXT BUDGET: SYSTEM · HISTORY · TOOL · SPILLOVER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9525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62000" y="1143000"/>
            <a:ext cx="10668000" cy="1095375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" y="1143000"/>
            <a:ext cx="76200" cy="1095375"/>
          </a:xfrm>
          <a:prstGeom prst="roundRect">
            <a:avLst>
              <a:gd name="adj" fmla="val 50000"/>
            </a:avLst>
          </a:prstGeom>
          <a:solidFill>
            <a:srgbClr val="2B6CB0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22045" y="1345882"/>
            <a:ext cx="207496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365D"/>
                </a:solidFill>
                <a:latin typeface="Georgia"/>
                <a:ea typeface="Microsoft YaHei"/>
                <a:cs typeface="Georgia"/>
              </a:rPr>
              <a:t>01 系统层 · SYSTEM</a:t>
            </a:r>
          </a:p>
        </p:txBody>
      </p:sp>
      <p:sp>
        <p:nvSpPr>
          <p:cNvPr id="10" name="Rectangle 10"/>
          <p:cNvSpPr/>
          <p:nvPr/>
        </p:nvSpPr>
        <p:spPr>
          <a:xfrm>
            <a:off x="8191500" y="1285875"/>
            <a:ext cx="1714500" cy="266700"/>
          </a:xfrm>
          <a:prstGeom prst="roundRect">
            <a:avLst>
              <a:gd name="adj" fmla="val 21429"/>
            </a:avLst>
          </a:prstGeom>
          <a:solidFill>
            <a:srgbClr val="EBF8FF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546579" y="1363028"/>
            <a:ext cx="100434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B6CB0"/>
                </a:solidFill>
                <a:latin typeface="Georgia"/>
                <a:ea typeface="SimSun"/>
                <a:cs typeface="Georgia"/>
              </a:rPr>
              <a:t>̃ 2.5K tokens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28712" y="1735931"/>
            <a:ext cx="563927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项目 rules · Spec · ADR · CLAUDE.md · Agent identity + role prompt · Skill定义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30618" y="1971199"/>
            <a:ext cx="239106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静态预加载，伴随整个 session 生命周期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2333625"/>
            <a:ext cx="10668000" cy="1095375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762000" y="2333625"/>
            <a:ext cx="76200" cy="1095375"/>
          </a:xfrm>
          <a:prstGeom prst="roundRect">
            <a:avLst>
              <a:gd name="adj" fmla="val 50000"/>
            </a:avLst>
          </a:prstGeom>
          <a:solidFill>
            <a:srgbClr val="1A365D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122045" y="2536508"/>
            <a:ext cx="220203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365D"/>
                </a:solidFill>
                <a:latin typeface="Georgia"/>
                <a:ea typeface="Microsoft YaHei"/>
                <a:cs typeface="Georgia"/>
              </a:rPr>
              <a:t>02 历史层 · HISTORY</a:t>
            </a:r>
          </a:p>
        </p:txBody>
      </p:sp>
      <p:sp>
        <p:nvSpPr>
          <p:cNvPr id="17" name="Rectangle 17"/>
          <p:cNvSpPr/>
          <p:nvPr/>
        </p:nvSpPr>
        <p:spPr>
          <a:xfrm>
            <a:off x="8191500" y="2476500"/>
            <a:ext cx="1714500" cy="266700"/>
          </a:xfrm>
          <a:prstGeom prst="roundRect">
            <a:avLst>
              <a:gd name="adj" fmla="val 21429"/>
            </a:avLst>
          </a:prstGeom>
          <a:solidFill>
            <a:srgbClr val="EDF2F7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8627439" y="2553652"/>
            <a:ext cx="84262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A365D"/>
                </a:solidFill>
                <a:latin typeface="Georgia"/>
                <a:ea typeface="SimSun"/>
                <a:cs typeface="Georgia"/>
              </a:rPr>
              <a:t>̃ 8K tokens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28712" y="2926556"/>
            <a:ext cx="462665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最近 N 轮消息 · 滑动窗口截断 · 优先保留 error/correction cycles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130618" y="3161824"/>
            <a:ext cx="32036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超出窗口的消息压缩为 summary brief(由快模型生成)</a:t>
            </a:r>
          </a:p>
        </p:txBody>
      </p:sp>
      <p:sp>
        <p:nvSpPr>
          <p:cNvPr id="21" name="Rectangle 21"/>
          <p:cNvSpPr/>
          <p:nvPr/>
        </p:nvSpPr>
        <p:spPr>
          <a:xfrm>
            <a:off x="762000" y="3524250"/>
            <a:ext cx="10668000" cy="1095375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762000" y="3524250"/>
            <a:ext cx="76200" cy="1095375"/>
          </a:xfrm>
          <a:prstGeom prst="roundRect">
            <a:avLst>
              <a:gd name="adj" fmla="val 50000"/>
            </a:avLst>
          </a:prstGeom>
          <a:solidFill>
            <a:srgbClr val="3182CE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122045" y="3727132"/>
            <a:ext cx="288356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365D"/>
                </a:solidFill>
                <a:latin typeface="Georgia"/>
                <a:ea typeface="Microsoft YaHei"/>
                <a:cs typeface="Georgia"/>
              </a:rPr>
              <a:t>03 工具层 · TOOL RESULTS</a:t>
            </a:r>
          </a:p>
        </p:txBody>
      </p:sp>
      <p:sp>
        <p:nvSpPr>
          <p:cNvPr id="24" name="Rectangle 24"/>
          <p:cNvSpPr/>
          <p:nvPr/>
        </p:nvSpPr>
        <p:spPr>
          <a:xfrm>
            <a:off x="8191500" y="3667125"/>
            <a:ext cx="1714500" cy="266700"/>
          </a:xfrm>
          <a:prstGeom prst="roundRect">
            <a:avLst>
              <a:gd name="adj" fmla="val 21429"/>
            </a:avLst>
          </a:prstGeom>
          <a:solidFill>
            <a:srgbClr val="EBF8FF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8620088" y="3744278"/>
            <a:ext cx="85732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B6CB0"/>
                </a:solidFill>
                <a:latin typeface="Georgia"/>
                <a:ea typeface="SimSun"/>
                <a:cs typeface="Georgia"/>
              </a:rPr>
              <a:t>动态 Elastic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28712" y="4117181"/>
            <a:ext cx="5504259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工具调用结果 · 文件 diff · codebase 检索 · 动态衰减(越早的工具结果权重越低)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30618" y="4352449"/>
            <a:ext cx="30996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超过阈值的旧结果被 drop，仅保留最近 3 轮工具调用</a:t>
            </a:r>
          </a:p>
        </p:txBody>
      </p:sp>
      <p:sp>
        <p:nvSpPr>
          <p:cNvPr id="28" name="Rectangle 28"/>
          <p:cNvSpPr/>
          <p:nvPr/>
        </p:nvSpPr>
        <p:spPr>
          <a:xfrm>
            <a:off x="762000" y="4714875"/>
            <a:ext cx="10668000" cy="1095375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762000" y="4714875"/>
            <a:ext cx="76200" cy="1095375"/>
          </a:xfrm>
          <a:prstGeom prst="roundRect">
            <a:avLst>
              <a:gd name="adj" fmla="val 50000"/>
            </a:avLst>
          </a:prstGeom>
          <a:solidFill>
            <a:srgbClr val="63B3ED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1122045" y="4917758"/>
            <a:ext cx="245616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365D"/>
                </a:solidFill>
                <a:latin typeface="Georgia"/>
                <a:ea typeface="Microsoft YaHei"/>
                <a:cs typeface="Georgia"/>
              </a:rPr>
              <a:t>04 扩散层 · SPILLOVER</a:t>
            </a:r>
          </a:p>
        </p:txBody>
      </p:sp>
      <p:sp>
        <p:nvSpPr>
          <p:cNvPr id="31" name="Rectangle 31"/>
          <p:cNvSpPr/>
          <p:nvPr/>
        </p:nvSpPr>
        <p:spPr>
          <a:xfrm>
            <a:off x="8191500" y="4857750"/>
            <a:ext cx="1714500" cy="266700"/>
          </a:xfrm>
          <a:prstGeom prst="roundRect">
            <a:avLst>
              <a:gd name="adj" fmla="val 21429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</p:sp>
      <p:sp>
        <p:nvSpPr>
          <p:cNvPr id="32" name="TextBox 32"/>
          <p:cNvSpPr txBox="1"/>
          <p:nvPr/>
        </p:nvSpPr>
        <p:spPr>
          <a:xfrm>
            <a:off x="8741378" y="4934902"/>
            <a:ext cx="614744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718096"/>
                </a:solidFill>
                <a:latin typeface="Georgia"/>
                <a:ea typeface="SimSun"/>
                <a:cs typeface="Georgia"/>
              </a:rPr>
              <a:t>残留预算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28712" y="5307806"/>
            <a:ext cx="503920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dirty="0">
                <a:solidFill>
                  <a:srgbClr val="2D3748"/>
                </a:solidFill>
                <a:latin typeface="Arial"/>
                <a:ea typeface="Microsoft YaHei"/>
                <a:cs typeface="Arial"/>
              </a:rPr>
              <a:t>剩余 tokens → 自动分配至 task ID 粒度的 memory bank，跨 session 存档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30618" y="5543074"/>
            <a:ext cx="309314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下次相同 task 的对话可从 Spillover 恢复关键上下文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2985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718096"/>
                </a:solidFill>
                <a:latin typeface="Georgia"/>
                <a:ea typeface="Microsoft YaHei"/>
                <a:cs typeface="Georgia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1520" y="312420"/>
            <a:ext cx="308533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365D"/>
                </a:solidFill>
                <a:latin typeface="Georgia"/>
                <a:ea typeface="Microsoft YaHei"/>
                <a:cs typeface="Georgia"/>
              </a:rPr>
              <a:t>系统实现与实验评估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8665" y="724852"/>
            <a:ext cx="280601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IMPLEMENTATION &amp; BENCHMARK EVALUATION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9525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62000" y="1143000"/>
            <a:ext cx="10668000" cy="4572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1219200" y="1343025"/>
            <a:ext cx="46376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A365D"/>
                </a:solidFill>
                <a:latin typeface="Arial"/>
                <a:ea typeface="Microsoft YaHei"/>
                <a:cs typeface="Arial"/>
              </a:rPr>
              <a:t>任务完成效率对比 (Task Execution Efficiency)</a:t>
            </a:r>
          </a:p>
        </p:txBody>
      </p:sp>
      <p:sp>
        <p:nvSpPr>
          <p:cNvPr id="9" name="Line 9"/>
          <p:cNvSpPr/>
          <p:nvPr/>
        </p:nvSpPr>
        <p:spPr>
          <a:xfrm>
            <a:off x="1428750" y="1809750"/>
            <a:ext cx="9525" cy="3333750"/>
          </a:xfrm>
          <a:custGeom>
            <a:avLst/>
            <a:gdLst/>
            <a:ahLst/>
            <a:cxnLst/>
            <a:rect l="l" t="t" r="r" b="b"/>
            <a:pathLst>
              <a:path w="9525" h="3333750">
                <a:moveTo>
                  <a:pt x="0" y="0"/>
                </a:moveTo>
                <a:lnTo>
                  <a:pt x="0" y="333375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10" name="TextBox 10"/>
          <p:cNvSpPr txBox="1"/>
          <p:nvPr/>
        </p:nvSpPr>
        <p:spPr>
          <a:xfrm>
            <a:off x="1139095" y="1752124"/>
            <a:ext cx="20678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718096"/>
                </a:solidFill>
                <a:latin typeface="Georgia"/>
                <a:ea typeface="SimSun"/>
                <a:cs typeface="Georgia"/>
              </a:rPr>
              <a:t>100</a:t>
            </a:r>
          </a:p>
        </p:txBody>
      </p:sp>
      <p:sp>
        <p:nvSpPr>
          <p:cNvPr id="11" name="Line 11"/>
          <p:cNvSpPr/>
          <p:nvPr/>
        </p:nvSpPr>
        <p:spPr>
          <a:xfrm>
            <a:off x="1428750" y="180975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4762">
            <a:solidFill>
              <a:srgbClr val="E2E8F0"/>
            </a:solidFill>
            <a:prstDash val="dash"/>
          </a:ln>
        </p:spPr>
      </p:sp>
      <p:sp>
        <p:nvSpPr>
          <p:cNvPr id="12" name="TextBox 12"/>
          <p:cNvSpPr txBox="1"/>
          <p:nvPr/>
        </p:nvSpPr>
        <p:spPr>
          <a:xfrm>
            <a:off x="1178100" y="2533174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718096"/>
                </a:solidFill>
                <a:latin typeface="Georgia"/>
                <a:ea typeface="SimSun"/>
                <a:cs typeface="Georgia"/>
              </a:rPr>
              <a:t>75</a:t>
            </a:r>
          </a:p>
        </p:txBody>
      </p:sp>
      <p:sp>
        <p:nvSpPr>
          <p:cNvPr id="13" name="Line 13"/>
          <p:cNvSpPr/>
          <p:nvPr/>
        </p:nvSpPr>
        <p:spPr>
          <a:xfrm>
            <a:off x="1428750" y="259080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4762">
            <a:solidFill>
              <a:srgbClr val="E2E8F0"/>
            </a:solidFill>
            <a:prstDash val="dash"/>
          </a:ln>
        </p:spPr>
      </p:sp>
      <p:sp>
        <p:nvSpPr>
          <p:cNvPr id="14" name="TextBox 14"/>
          <p:cNvSpPr txBox="1"/>
          <p:nvPr/>
        </p:nvSpPr>
        <p:spPr>
          <a:xfrm>
            <a:off x="1178100" y="3314224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718096"/>
                </a:solidFill>
                <a:latin typeface="Georgia"/>
                <a:ea typeface="SimSun"/>
                <a:cs typeface="Georgia"/>
              </a:rPr>
              <a:t>50</a:t>
            </a:r>
          </a:p>
        </p:txBody>
      </p:sp>
      <p:sp>
        <p:nvSpPr>
          <p:cNvPr id="15" name="Line 15"/>
          <p:cNvSpPr/>
          <p:nvPr/>
        </p:nvSpPr>
        <p:spPr>
          <a:xfrm>
            <a:off x="1428750" y="337185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4762">
            <a:solidFill>
              <a:srgbClr val="E2E8F0"/>
            </a:solidFill>
            <a:prstDash val="dash"/>
          </a:ln>
        </p:spPr>
      </p:sp>
      <p:sp>
        <p:nvSpPr>
          <p:cNvPr id="16" name="TextBox 16"/>
          <p:cNvSpPr txBox="1"/>
          <p:nvPr/>
        </p:nvSpPr>
        <p:spPr>
          <a:xfrm>
            <a:off x="1178100" y="4095274"/>
            <a:ext cx="167783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718096"/>
                </a:solidFill>
                <a:latin typeface="Georgia"/>
                <a:ea typeface="SimSun"/>
                <a:cs typeface="Georgia"/>
              </a:rPr>
              <a:t>25</a:t>
            </a:r>
          </a:p>
        </p:txBody>
      </p:sp>
      <p:sp>
        <p:nvSpPr>
          <p:cNvPr id="17" name="Line 17"/>
          <p:cNvSpPr/>
          <p:nvPr/>
        </p:nvSpPr>
        <p:spPr>
          <a:xfrm>
            <a:off x="1428750" y="415290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4762">
            <a:solidFill>
              <a:srgbClr val="E2E8F0"/>
            </a:solidFill>
            <a:prstDash val="dash"/>
          </a:ln>
        </p:spPr>
      </p:sp>
      <p:sp>
        <p:nvSpPr>
          <p:cNvPr id="18" name="TextBox 18"/>
          <p:cNvSpPr txBox="1"/>
          <p:nvPr/>
        </p:nvSpPr>
        <p:spPr>
          <a:xfrm>
            <a:off x="1249609" y="4876324"/>
            <a:ext cx="9627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75" dirty="0">
                <a:solidFill>
                  <a:srgbClr val="718096"/>
                </a:solidFill>
                <a:latin typeface="Georgia"/>
                <a:ea typeface="SimSun"/>
                <a:cs typeface="Georgia"/>
              </a:rPr>
              <a:t>0</a:t>
            </a:r>
          </a:p>
        </p:txBody>
      </p:sp>
      <p:sp>
        <p:nvSpPr>
          <p:cNvPr id="19" name="Line 19"/>
          <p:cNvSpPr/>
          <p:nvPr/>
        </p:nvSpPr>
        <p:spPr>
          <a:xfrm>
            <a:off x="1428750" y="4933950"/>
            <a:ext cx="9525000" cy="9525"/>
          </a:xfrm>
          <a:custGeom>
            <a:avLst/>
            <a:gdLst/>
            <a:ahLst/>
            <a:cxnLst/>
            <a:rect l="l" t="t" r="r" b="b"/>
            <a:pathLst>
              <a:path w="9525000" h="9525">
                <a:moveTo>
                  <a:pt x="0" y="0"/>
                </a:moveTo>
                <a:lnTo>
                  <a:pt x="9525000" y="0"/>
                </a:lnTo>
              </a:path>
            </a:pathLst>
          </a:custGeom>
          <a:noFill/>
          <a:ln w="9525">
            <a:solidFill>
              <a:srgbClr val="A0AEC0"/>
            </a:solidFill>
          </a:ln>
        </p:spPr>
      </p:sp>
      <p:sp>
        <p:nvSpPr>
          <p:cNvPr id="20" name="TextBox 20"/>
          <p:cNvSpPr txBox="1"/>
          <p:nvPr/>
        </p:nvSpPr>
        <p:spPr>
          <a:xfrm>
            <a:off x="2609296" y="5144452"/>
            <a:ext cx="72500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4A5568"/>
                </a:solidFill>
                <a:latin typeface="Arial"/>
                <a:ea typeface="Microsoft YaHei"/>
                <a:cs typeface="Arial"/>
              </a:rPr>
              <a:t>Bug Fixing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503912" y="5144452"/>
            <a:ext cx="879377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4A5568"/>
                </a:solidFill>
                <a:latin typeface="Arial"/>
                <a:ea typeface="Microsoft YaHei"/>
                <a:cs typeface="Arial"/>
              </a:rPr>
              <a:t>Feature Dev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479387" y="5144452"/>
            <a:ext cx="87202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4A5568"/>
                </a:solidFill>
                <a:latin typeface="Arial"/>
                <a:ea typeface="Microsoft YaHei"/>
                <a:cs typeface="Arial"/>
              </a:rPr>
              <a:t>Code Review</a:t>
            </a:r>
          </a:p>
        </p:txBody>
      </p:sp>
      <p:sp>
        <p:nvSpPr>
          <p:cNvPr id="23" name="Rectangle 23"/>
          <p:cNvSpPr/>
          <p:nvPr/>
        </p:nvSpPr>
        <p:spPr>
          <a:xfrm>
            <a:off x="2095500" y="2209800"/>
            <a:ext cx="619125" cy="2724150"/>
          </a:xfrm>
          <a:prstGeom prst="roundRect">
            <a:avLst>
              <a:gd name="adj" fmla="val 6154"/>
            </a:avLst>
          </a:prstGeom>
          <a:solidFill>
            <a:srgbClr val="2B6CB0">
              <a:alpha val="85000"/>
            </a:srgbClr>
          </a:solidFill>
          <a:ln>
            <a:noFill/>
          </a:ln>
          <a:effectLst>
            <a:outerShdw blurRad="38100" dist="9525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24" name="TextBox 24"/>
          <p:cNvSpPr txBox="1"/>
          <p:nvPr/>
        </p:nvSpPr>
        <p:spPr>
          <a:xfrm>
            <a:off x="2312833" y="2028349"/>
            <a:ext cx="1749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2B6CB0"/>
                </a:solidFill>
                <a:latin typeface="Georgia"/>
                <a:ea typeface="SimSun"/>
                <a:cs typeface="Georgia"/>
              </a:rPr>
              <a:t>78</a:t>
            </a:r>
          </a:p>
        </p:txBody>
      </p:sp>
      <p:sp>
        <p:nvSpPr>
          <p:cNvPr id="25" name="Rectangle 25"/>
          <p:cNvSpPr/>
          <p:nvPr/>
        </p:nvSpPr>
        <p:spPr>
          <a:xfrm>
            <a:off x="2809875" y="3181350"/>
            <a:ext cx="619125" cy="1752600"/>
          </a:xfrm>
          <a:prstGeom prst="roundRect">
            <a:avLst>
              <a:gd name="adj" fmla="val 6154"/>
            </a:avLst>
          </a:prstGeom>
          <a:solidFill>
            <a:srgbClr val="63B3ED">
              <a:alpha val="85000"/>
            </a:srgbClr>
          </a:solidFill>
          <a:ln>
            <a:noFill/>
          </a:ln>
          <a:effectLst>
            <a:outerShdw blurRad="38100" dist="9525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26" name="TextBox 26"/>
          <p:cNvSpPr txBox="1"/>
          <p:nvPr/>
        </p:nvSpPr>
        <p:spPr>
          <a:xfrm>
            <a:off x="3027208" y="2999899"/>
            <a:ext cx="1749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63B3ED"/>
                </a:solidFill>
                <a:latin typeface="Georgia"/>
                <a:ea typeface="SimSun"/>
                <a:cs typeface="Georgia"/>
              </a:rPr>
              <a:t>50</a:t>
            </a:r>
          </a:p>
        </p:txBody>
      </p:sp>
      <p:sp>
        <p:nvSpPr>
          <p:cNvPr id="27" name="Rectangle 27"/>
          <p:cNvSpPr/>
          <p:nvPr/>
        </p:nvSpPr>
        <p:spPr>
          <a:xfrm>
            <a:off x="3524250" y="3771900"/>
            <a:ext cx="619125" cy="1162050"/>
          </a:xfrm>
          <a:prstGeom prst="roundRect">
            <a:avLst>
              <a:gd name="adj" fmla="val 6154"/>
            </a:avLst>
          </a:prstGeom>
          <a:solidFill>
            <a:srgbClr val="E2E8F0">
              <a:alpha val="85000"/>
            </a:srgbClr>
          </a:solidFill>
          <a:ln>
            <a:noFill/>
          </a:ln>
          <a:effectLst>
            <a:outerShdw blurRad="38100" dist="9525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28" name="TextBox 28"/>
          <p:cNvSpPr txBox="1"/>
          <p:nvPr/>
        </p:nvSpPr>
        <p:spPr>
          <a:xfrm>
            <a:off x="3741583" y="3590449"/>
            <a:ext cx="1749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A0AEC0"/>
                </a:solidFill>
                <a:latin typeface="Georgia"/>
                <a:ea typeface="SimSun"/>
                <a:cs typeface="Georgia"/>
              </a:rPr>
              <a:t>33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840307" y="2911316"/>
            <a:ext cx="2629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+56%</a:t>
            </a:r>
          </a:p>
        </p:txBody>
      </p:sp>
      <p:sp>
        <p:nvSpPr>
          <p:cNvPr id="30" name="Rectangle 30"/>
          <p:cNvSpPr/>
          <p:nvPr/>
        </p:nvSpPr>
        <p:spPr>
          <a:xfrm>
            <a:off x="4838700" y="2076450"/>
            <a:ext cx="619125" cy="2857500"/>
          </a:xfrm>
          <a:prstGeom prst="roundRect">
            <a:avLst>
              <a:gd name="adj" fmla="val 6154"/>
            </a:avLst>
          </a:prstGeom>
          <a:solidFill>
            <a:srgbClr val="2B6CB0">
              <a:alpha val="85000"/>
            </a:srgbClr>
          </a:solidFill>
          <a:ln>
            <a:noFill/>
          </a:ln>
          <a:effectLst>
            <a:outerShdw blurRad="38100" dist="9525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31" name="TextBox 31"/>
          <p:cNvSpPr txBox="1"/>
          <p:nvPr/>
        </p:nvSpPr>
        <p:spPr>
          <a:xfrm>
            <a:off x="5056033" y="1894999"/>
            <a:ext cx="1749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2B6CB0"/>
                </a:solidFill>
                <a:latin typeface="Georgia"/>
                <a:ea typeface="SimSun"/>
                <a:cs typeface="Georgia"/>
              </a:rPr>
              <a:t>82</a:t>
            </a:r>
          </a:p>
        </p:txBody>
      </p:sp>
      <p:sp>
        <p:nvSpPr>
          <p:cNvPr id="32" name="Rectangle 32"/>
          <p:cNvSpPr/>
          <p:nvPr/>
        </p:nvSpPr>
        <p:spPr>
          <a:xfrm>
            <a:off x="5553075" y="2971800"/>
            <a:ext cx="619125" cy="1962150"/>
          </a:xfrm>
          <a:prstGeom prst="roundRect">
            <a:avLst>
              <a:gd name="adj" fmla="val 6154"/>
            </a:avLst>
          </a:prstGeom>
          <a:solidFill>
            <a:srgbClr val="63B3ED">
              <a:alpha val="85000"/>
            </a:srgbClr>
          </a:solidFill>
          <a:ln>
            <a:noFill/>
          </a:ln>
          <a:effectLst>
            <a:outerShdw blurRad="38100" dist="9525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33" name="TextBox 33"/>
          <p:cNvSpPr txBox="1"/>
          <p:nvPr/>
        </p:nvSpPr>
        <p:spPr>
          <a:xfrm>
            <a:off x="5770408" y="2790349"/>
            <a:ext cx="1749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63B3ED"/>
                </a:solidFill>
                <a:latin typeface="Georgia"/>
                <a:ea typeface="SimSun"/>
                <a:cs typeface="Georgia"/>
              </a:rPr>
              <a:t>56</a:t>
            </a:r>
          </a:p>
        </p:txBody>
      </p:sp>
      <p:sp>
        <p:nvSpPr>
          <p:cNvPr id="34" name="Rectangle 34"/>
          <p:cNvSpPr/>
          <p:nvPr/>
        </p:nvSpPr>
        <p:spPr>
          <a:xfrm>
            <a:off x="6267450" y="3771900"/>
            <a:ext cx="619125" cy="1162050"/>
          </a:xfrm>
          <a:prstGeom prst="roundRect">
            <a:avLst>
              <a:gd name="adj" fmla="val 6154"/>
            </a:avLst>
          </a:prstGeom>
          <a:solidFill>
            <a:srgbClr val="E2E8F0">
              <a:alpha val="85000"/>
            </a:srgbClr>
          </a:solidFill>
          <a:ln>
            <a:noFill/>
          </a:ln>
          <a:effectLst>
            <a:outerShdw blurRad="38100" dist="9525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35" name="TextBox 35"/>
          <p:cNvSpPr txBox="1"/>
          <p:nvPr/>
        </p:nvSpPr>
        <p:spPr>
          <a:xfrm>
            <a:off x="6484783" y="3590449"/>
            <a:ext cx="1749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A0AEC0"/>
                </a:solidFill>
                <a:latin typeface="Georgia"/>
                <a:ea typeface="SimSun"/>
                <a:cs typeface="Georgia"/>
              </a:rPr>
              <a:t>33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583507" y="2701766"/>
            <a:ext cx="2629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+46%</a:t>
            </a:r>
          </a:p>
        </p:txBody>
      </p:sp>
      <p:sp>
        <p:nvSpPr>
          <p:cNvPr id="37" name="Rectangle 37"/>
          <p:cNvSpPr/>
          <p:nvPr/>
        </p:nvSpPr>
        <p:spPr>
          <a:xfrm>
            <a:off x="7581900" y="2838450"/>
            <a:ext cx="619125" cy="2095500"/>
          </a:xfrm>
          <a:prstGeom prst="roundRect">
            <a:avLst>
              <a:gd name="adj" fmla="val 6154"/>
            </a:avLst>
          </a:prstGeom>
          <a:solidFill>
            <a:srgbClr val="2B6CB0">
              <a:alpha val="85000"/>
            </a:srgbClr>
          </a:solidFill>
          <a:ln>
            <a:noFill/>
          </a:ln>
          <a:effectLst>
            <a:outerShdw blurRad="38100" dist="9525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38" name="TextBox 38"/>
          <p:cNvSpPr txBox="1"/>
          <p:nvPr/>
        </p:nvSpPr>
        <p:spPr>
          <a:xfrm>
            <a:off x="7799233" y="2656999"/>
            <a:ext cx="1749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2B6CB0"/>
                </a:solidFill>
                <a:latin typeface="Georgia"/>
                <a:ea typeface="SimSun"/>
                <a:cs typeface="Georgia"/>
              </a:rPr>
              <a:t>60</a:t>
            </a:r>
          </a:p>
        </p:txBody>
      </p:sp>
      <p:sp>
        <p:nvSpPr>
          <p:cNvPr id="39" name="Rectangle 39"/>
          <p:cNvSpPr/>
          <p:nvPr/>
        </p:nvSpPr>
        <p:spPr>
          <a:xfrm>
            <a:off x="8296275" y="3371850"/>
            <a:ext cx="619125" cy="1562100"/>
          </a:xfrm>
          <a:prstGeom prst="roundRect">
            <a:avLst>
              <a:gd name="adj" fmla="val 6154"/>
            </a:avLst>
          </a:prstGeom>
          <a:solidFill>
            <a:srgbClr val="63B3ED">
              <a:alpha val="85000"/>
            </a:srgbClr>
          </a:solidFill>
          <a:ln>
            <a:noFill/>
          </a:ln>
          <a:effectLst>
            <a:outerShdw blurRad="38100" dist="9525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40" name="TextBox 40"/>
          <p:cNvSpPr txBox="1"/>
          <p:nvPr/>
        </p:nvSpPr>
        <p:spPr>
          <a:xfrm>
            <a:off x="8513608" y="3190399"/>
            <a:ext cx="174934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63B3ED"/>
                </a:solidFill>
                <a:latin typeface="Georgia"/>
                <a:ea typeface="SimSun"/>
                <a:cs typeface="Georgia"/>
              </a:rPr>
              <a:t>45</a:t>
            </a:r>
          </a:p>
        </p:txBody>
      </p:sp>
      <p:sp>
        <p:nvSpPr>
          <p:cNvPr id="41" name="Rectangle 41"/>
          <p:cNvSpPr/>
          <p:nvPr/>
        </p:nvSpPr>
        <p:spPr>
          <a:xfrm>
            <a:off x="9010650" y="4191000"/>
            <a:ext cx="619125" cy="742950"/>
          </a:xfrm>
          <a:prstGeom prst="roundRect">
            <a:avLst>
              <a:gd name="adj" fmla="val 6154"/>
            </a:avLst>
          </a:prstGeom>
          <a:solidFill>
            <a:srgbClr val="E2E8F0">
              <a:alpha val="85000"/>
            </a:srgbClr>
          </a:solidFill>
          <a:ln>
            <a:noFill/>
          </a:ln>
          <a:effectLst>
            <a:outerShdw blurRad="38100" dist="9525" dir="5400000" algn="ctr" rotWithShape="0">
              <a:srgbClr val="000000">
                <a:alpha val="22500"/>
              </a:srgbClr>
            </a:outerShdw>
          </a:effectLst>
        </p:spPr>
      </p:sp>
      <p:sp>
        <p:nvSpPr>
          <p:cNvPr id="42" name="TextBox 42"/>
          <p:cNvSpPr txBox="1"/>
          <p:nvPr/>
        </p:nvSpPr>
        <p:spPr>
          <a:xfrm>
            <a:off x="9245048" y="4009549"/>
            <a:ext cx="14080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75" b="1" dirty="0">
                <a:solidFill>
                  <a:srgbClr val="A0AEC0"/>
                </a:solidFill>
                <a:latin typeface="Georgia"/>
                <a:ea typeface="SimSun"/>
                <a:cs typeface="Georgia"/>
              </a:rPr>
              <a:t>21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326707" y="3101816"/>
            <a:ext cx="2629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+33%</a:t>
            </a:r>
          </a:p>
        </p:txBody>
      </p:sp>
      <p:sp>
        <p:nvSpPr>
          <p:cNvPr id="44" name="Rectangle 44"/>
          <p:cNvSpPr/>
          <p:nvPr/>
        </p:nvSpPr>
        <p:spPr>
          <a:xfrm>
            <a:off x="4191000" y="5429250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2B6CB0">
              <a:alpha val="85000"/>
            </a:srgbClr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4388168" y="5447824"/>
            <a:ext cx="12534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5568"/>
                </a:solidFill>
                <a:latin typeface="Arial"/>
                <a:ea typeface="Microsoft YaHei"/>
                <a:cs typeface="Arial"/>
              </a:rPr>
              <a:t>Polynoia (3 Agents)</a:t>
            </a:r>
          </a:p>
        </p:txBody>
      </p:sp>
      <p:sp>
        <p:nvSpPr>
          <p:cNvPr id="46" name="Rectangle 46"/>
          <p:cNvSpPr/>
          <p:nvPr/>
        </p:nvSpPr>
        <p:spPr>
          <a:xfrm>
            <a:off x="6000750" y="5429250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63B3ED">
              <a:alpha val="85000"/>
            </a:srgbClr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6197918" y="5447824"/>
            <a:ext cx="133142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5568"/>
                </a:solidFill>
                <a:latin typeface="Arial"/>
                <a:ea typeface="Microsoft YaHei"/>
                <a:cs typeface="Arial"/>
              </a:rPr>
              <a:t>Single Agent Baseline</a:t>
            </a:r>
          </a:p>
        </p:txBody>
      </p:sp>
      <p:sp>
        <p:nvSpPr>
          <p:cNvPr id="48" name="Rectangle 48"/>
          <p:cNvSpPr/>
          <p:nvPr/>
        </p:nvSpPr>
        <p:spPr>
          <a:xfrm>
            <a:off x="8191500" y="5429250"/>
            <a:ext cx="152400" cy="152400"/>
          </a:xfrm>
          <a:prstGeom prst="roundRect">
            <a:avLst>
              <a:gd name="adj" fmla="val 18750"/>
            </a:avLst>
          </a:prstGeom>
          <a:solidFill>
            <a:srgbClr val="E2E8F0">
              <a:alpha val="85000"/>
            </a:srgbClr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388668" y="5447824"/>
            <a:ext cx="103889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4A5568"/>
                </a:solidFill>
                <a:latin typeface="Arial"/>
                <a:ea typeface="Microsoft YaHei"/>
                <a:cs typeface="Arial"/>
              </a:rPr>
              <a:t>No-Tool Baseline</a:t>
            </a:r>
          </a:p>
        </p:txBody>
      </p:sp>
      <p:sp>
        <p:nvSpPr>
          <p:cNvPr id="50" name="Rectangle 50"/>
          <p:cNvSpPr/>
          <p:nvPr/>
        </p:nvSpPr>
        <p:spPr>
          <a:xfrm>
            <a:off x="762000" y="5905500"/>
            <a:ext cx="328612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51" name="TextBox 51"/>
          <p:cNvSpPr txBox="1"/>
          <p:nvPr/>
        </p:nvSpPr>
        <p:spPr>
          <a:xfrm>
            <a:off x="2131050" y="5945505"/>
            <a:ext cx="538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38A169"/>
                </a:solidFill>
                <a:latin typeface="Georgia"/>
                <a:ea typeface="SimSun"/>
                <a:cs typeface="Georgia"/>
              </a:rPr>
              <a:t>67%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908810" y="634174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冲突解决时间缩短</a:t>
            </a:r>
          </a:p>
        </p:txBody>
      </p:sp>
      <p:sp>
        <p:nvSpPr>
          <p:cNvPr id="53" name="Rectangle 53"/>
          <p:cNvSpPr/>
          <p:nvPr/>
        </p:nvSpPr>
        <p:spPr>
          <a:xfrm>
            <a:off x="4448175" y="5905500"/>
            <a:ext cx="328612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5817225" y="5945505"/>
            <a:ext cx="538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2B6CB0"/>
                </a:solidFill>
                <a:latin typeface="Georgia"/>
                <a:ea typeface="SimSun"/>
                <a:cs typeface="Georgia"/>
              </a:rPr>
              <a:t>43%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5462968" y="6341745"/>
            <a:ext cx="124701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Context Token 节省率</a:t>
            </a:r>
          </a:p>
        </p:txBody>
      </p:sp>
      <p:sp>
        <p:nvSpPr>
          <p:cNvPr id="56" name="Rectangle 56"/>
          <p:cNvSpPr/>
          <p:nvPr/>
        </p:nvSpPr>
        <p:spPr>
          <a:xfrm>
            <a:off x="8134350" y="5905500"/>
            <a:ext cx="3286125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57" name="TextBox 57"/>
          <p:cNvSpPr txBox="1"/>
          <p:nvPr/>
        </p:nvSpPr>
        <p:spPr>
          <a:xfrm>
            <a:off x="9422540" y="5945505"/>
            <a:ext cx="70022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805AD5"/>
                </a:solidFill>
                <a:latin typeface="Georgia"/>
                <a:ea typeface="SimSun"/>
                <a:cs typeface="Georgia"/>
              </a:rPr>
              <a:t>3.2×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173146" y="6341745"/>
            <a:ext cx="119900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并行加速比 (vs 串行)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12985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718096"/>
                </a:solidFill>
                <a:latin typeface="Georgia"/>
                <a:ea typeface="Microsoft YaHei"/>
                <a:cs typeface="Georgia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31520" y="312420"/>
            <a:ext cx="14051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365D"/>
                </a:solidFill>
                <a:latin typeface="Georgia"/>
                <a:ea typeface="Microsoft YaHei"/>
                <a:cs typeface="Georgia"/>
              </a:rPr>
              <a:t>工作总结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48665" y="724852"/>
            <a:ext cx="225994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718096"/>
                </a:solidFill>
                <a:latin typeface="Arial"/>
                <a:ea typeface="Microsoft YaHei"/>
                <a:cs typeface="Arial"/>
              </a:rPr>
              <a:t>ACCOMPLISHMENTS &amp; FUTURE WORK</a:t>
            </a:r>
          </a:p>
        </p:txBody>
      </p:sp>
      <p:sp>
        <p:nvSpPr>
          <p:cNvPr id="6" name="Line 6"/>
          <p:cNvSpPr/>
          <p:nvPr/>
        </p:nvSpPr>
        <p:spPr>
          <a:xfrm>
            <a:off x="762000" y="9525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E2E8F0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219200" y="1266825"/>
            <a:ext cx="1088231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38A169"/>
                </a:solidFill>
                <a:latin typeface="Arial"/>
                <a:ea typeface="Microsoft YaHei"/>
                <a:cs typeface="Arial"/>
              </a:rPr>
              <a:t>已完成工作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762000" y="1619250"/>
            <a:ext cx="5143500" cy="1714500"/>
            <a:chOff x="762000" y="1619250"/>
            <a:chExt cx="5143500" cy="1714500"/>
          </a:xfrm>
          <a:effectLst>
            <a:outerShdw blurRad="57150" dist="19050" dir="5400000" algn="ctr" rotWithShape="0">
              <a:srgbClr val="000000">
                <a:alpha val="22500"/>
              </a:srgbClr>
            </a:outerShdw>
          </a:effectLst>
        </p:grpSpPr>
        <p:sp>
          <p:nvSpPr>
            <p:cNvPr id="8" name="Rectangle 8"/>
            <p:cNvSpPr/>
            <p:nvPr/>
          </p:nvSpPr>
          <p:spPr>
            <a:xfrm>
              <a:off x="762000" y="1619250"/>
              <a:ext cx="5143500" cy="1714500"/>
            </a:xfrm>
            <a:prstGeom prst="roundRect">
              <a:avLst>
                <a:gd name="adj" fmla="val 5556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9" name="Ellipse 9"/>
            <p:cNvSpPr/>
            <p:nvPr/>
          </p:nvSpPr>
          <p:spPr>
            <a:xfrm>
              <a:off x="971550" y="1809750"/>
              <a:ext cx="152400" cy="152400"/>
            </a:xfrm>
            <a:prstGeom prst="ellipse">
              <a:avLst/>
            </a:prstGeom>
            <a:solidFill>
              <a:srgbClr val="38A169">
                <a:alpha val="15000"/>
              </a:srgb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0" name="TextBox 10"/>
            <p:cNvSpPr txBox="1"/>
            <p:nvPr/>
          </p:nvSpPr>
          <p:spPr>
            <a:xfrm>
              <a:off x="1204912" y="1812131"/>
              <a:ext cx="2998946" cy="2286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三层协议架构设计 (PAP / ACP v1 / AI SDK 6)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971550" y="2114550"/>
              <a:ext cx="152400" cy="152400"/>
            </a:xfrm>
            <a:prstGeom prst="ellipse">
              <a:avLst/>
            </a:prstGeom>
            <a:solidFill>
              <a:srgbClr val="38A169">
                <a:alpha val="15000"/>
              </a:srgb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1204912" y="2116931"/>
              <a:ext cx="3719036" cy="2286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3 大 Adapter 实现 (ClaudeCode / OpenCode / Codex)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971550" y="2419350"/>
              <a:ext cx="152400" cy="152400"/>
            </a:xfrm>
            <a:prstGeom prst="ellipse">
              <a:avLst/>
            </a:prstGeom>
            <a:solidFill>
              <a:srgbClr val="38A169">
                <a:alpha val="15000"/>
              </a:srgb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4" name="TextBox 14"/>
            <p:cNvSpPr txBox="1"/>
            <p:nvPr/>
          </p:nvSpPr>
          <p:spPr>
            <a:xfrm>
              <a:off x="1204912" y="2421731"/>
              <a:ext cx="2601397" cy="2286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四层上下文预算引擎 + Token 节省 43%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971550" y="2724150"/>
              <a:ext cx="152400" cy="152400"/>
            </a:xfrm>
            <a:prstGeom prst="ellipse">
              <a:avLst/>
            </a:prstGeom>
            <a:solidFill>
              <a:srgbClr val="38A169">
                <a:alpha val="15000"/>
              </a:srgb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1204912" y="2726531"/>
              <a:ext cx="2923937" cy="2286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冲突闭环机制 (pending-edit + Git Merge)</a:t>
              </a:r>
            </a:p>
          </p:txBody>
        </p:sp>
        <p:sp>
          <p:nvSpPr>
            <p:cNvPr id="17" name="Ellipse 17"/>
            <p:cNvSpPr/>
            <p:nvPr/>
          </p:nvSpPr>
          <p:spPr>
            <a:xfrm>
              <a:off x="971550" y="3028950"/>
              <a:ext cx="152400" cy="152400"/>
            </a:xfrm>
            <a:prstGeom prst="ellipse">
              <a:avLst/>
            </a:prstGeom>
            <a:solidFill>
              <a:srgbClr val="38A169">
                <a:alpha val="15000"/>
              </a:srgbClr>
            </a:solidFill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18" name="TextBox 18"/>
            <p:cNvSpPr txBox="1"/>
            <p:nvPr/>
          </p:nvSpPr>
          <p:spPr>
            <a:xfrm>
              <a:off x="1204912" y="3031331"/>
              <a:ext cx="3486507" cy="22860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3748"/>
                  </a:solidFill>
                  <a:latin typeface="Arial"/>
                  <a:ea typeface="Microsoft YaHei"/>
                  <a:cs typeface="Arial"/>
                </a:rPr>
                <a:t>IM 形态前端 (17 MessagePart Kinds + BurstCard)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286500" y="1619250"/>
            <a:ext cx="5143500" cy="1714500"/>
            <a:chOff x="6286500" y="1619250"/>
            <a:chExt cx="5143500" cy="1714500"/>
          </a:xfrm>
          <a:effectLst>
            <a:outerShdw blurRad="57150" dist="19050" dir="5400000" algn="ctr" rotWithShape="0">
              <a:srgbClr val="000000">
                <a:alpha val="22500"/>
              </a:srgbClr>
            </a:outerShdw>
          </a:effectLst>
        </p:grpSpPr>
        <p:sp>
          <p:nvSpPr>
            <p:cNvPr id="20" name="Rectangle 20"/>
            <p:cNvSpPr/>
            <p:nvPr/>
          </p:nvSpPr>
          <p:spPr>
            <a:xfrm>
              <a:off x="6286500" y="1619250"/>
              <a:ext cx="5143500" cy="1714500"/>
            </a:xfrm>
            <a:prstGeom prst="roundRect">
              <a:avLst>
                <a:gd name="adj" fmla="val 5556"/>
              </a:avLst>
            </a:prstGeom>
            <a:solidFill>
              <a:srgbClr val="1A365D">
                <a:alpha val="4000"/>
              </a:srgbClr>
            </a:solidFill>
            <a:ln w="9525">
              <a:solidFill>
                <a:srgbClr val="E2E8F0"/>
              </a:solidFill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</p:sp>
        <p:sp>
          <p:nvSpPr>
            <p:cNvPr id="21" name="TextBox 21"/>
            <p:cNvSpPr txBox="1"/>
            <p:nvPr/>
          </p:nvSpPr>
          <p:spPr>
            <a:xfrm>
              <a:off x="6537960" y="1661160"/>
              <a:ext cx="276506" cy="548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B6CB0"/>
                  </a:solidFill>
                  <a:latin typeface="Georgia"/>
                  <a:ea typeface="SimSun"/>
                  <a:cs typeface="Georgia"/>
                </a:rPr>
                <a:t>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987540" y="1839278"/>
              <a:ext cx="880777" cy="21336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CLI Adapters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37960" y="2032635"/>
              <a:ext cx="692358" cy="548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38A169"/>
                  </a:solidFill>
                  <a:latin typeface="Georgia"/>
                  <a:ea typeface="SimSun"/>
                  <a:cs typeface="Georgia"/>
                </a:rPr>
                <a:t>43%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06665" y="2210752"/>
              <a:ext cx="873776" cy="21336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Token 节省率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37960" y="2404110"/>
              <a:ext cx="900284" cy="548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805AD5"/>
                  </a:solidFill>
                  <a:latin typeface="Georgia"/>
                  <a:ea typeface="SimSun"/>
                  <a:cs typeface="Georgia"/>
                </a:rPr>
                <a:t>3.2×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01915" y="2582228"/>
              <a:ext cx="726758" cy="21336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并行加速比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37960" y="2775585"/>
              <a:ext cx="389920" cy="5486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rgbClr val="2B6CB0"/>
                  </a:solidFill>
                  <a:latin typeface="Georgia"/>
                  <a:ea typeface="SimSun"/>
                  <a:cs typeface="Georgia"/>
                </a:rPr>
                <a:t>17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16165" y="2953702"/>
              <a:ext cx="1293828" cy="21336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ctr" rotWithShape="0">
                <a:srgbClr val="000000">
                  <a:alpha val="22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18096"/>
                  </a:solidFill>
                  <a:latin typeface="Arial"/>
                  <a:ea typeface="Microsoft YaHei"/>
                  <a:cs typeface="Arial"/>
                </a:rPr>
                <a:t>MessagePart Kinds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219200" y="3743325"/>
            <a:ext cx="87820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2B6CB0"/>
                </a:solidFill>
                <a:latin typeface="Arial"/>
                <a:ea typeface="Microsoft YaHei"/>
                <a:cs typeface="Arial"/>
              </a:rPr>
              <a:t>未来展望</a:t>
            </a:r>
          </a:p>
        </p:txBody>
      </p:sp>
      <p:sp>
        <p:nvSpPr>
          <p:cNvPr id="31" name="Rectangle 31"/>
          <p:cNvSpPr/>
          <p:nvPr/>
        </p:nvSpPr>
        <p:spPr>
          <a:xfrm>
            <a:off x="762000" y="4095750"/>
            <a:ext cx="10668000" cy="17145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1047750" y="4362450"/>
            <a:ext cx="3238500" cy="523875"/>
          </a:xfrm>
          <a:prstGeom prst="roundRect">
            <a:avLst>
              <a:gd name="adj" fmla="val 14545"/>
            </a:avLst>
          </a:prstGeom>
          <a:solidFill>
            <a:srgbClr val="EBF8FF"/>
          </a:solidFill>
          <a:ln w="9525">
            <a:solidFill>
              <a:srgbClr val="90CDF4"/>
            </a:solidFill>
          </a:ln>
        </p:spPr>
      </p:sp>
      <p:sp>
        <p:nvSpPr>
          <p:cNvPr id="33" name="TextBox 33"/>
          <p:cNvSpPr txBox="1"/>
          <p:nvPr/>
        </p:nvSpPr>
        <p:spPr>
          <a:xfrm>
            <a:off x="2002944" y="4564856"/>
            <a:ext cx="132811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B6CB0"/>
                </a:solidFill>
                <a:latin typeface="Arial"/>
                <a:ea typeface="Microsoft YaHei"/>
                <a:cs typeface="Arial"/>
              </a:rPr>
              <a:t>带 LSP 的协同编辑</a:t>
            </a:r>
          </a:p>
        </p:txBody>
      </p:sp>
      <p:sp>
        <p:nvSpPr>
          <p:cNvPr id="34" name="Rectangle 34"/>
          <p:cNvSpPr/>
          <p:nvPr/>
        </p:nvSpPr>
        <p:spPr>
          <a:xfrm>
            <a:off x="4476750" y="4362450"/>
            <a:ext cx="3238500" cy="523875"/>
          </a:xfrm>
          <a:prstGeom prst="roundRect">
            <a:avLst>
              <a:gd name="adj" fmla="val 14545"/>
            </a:avLst>
          </a:prstGeom>
          <a:solidFill>
            <a:srgbClr val="EBF8FF"/>
          </a:solidFill>
          <a:ln w="9525">
            <a:solidFill>
              <a:srgbClr val="90CDF4"/>
            </a:solidFill>
          </a:ln>
        </p:spPr>
      </p:sp>
      <p:sp>
        <p:nvSpPr>
          <p:cNvPr id="35" name="TextBox 35"/>
          <p:cNvSpPr txBox="1"/>
          <p:nvPr/>
        </p:nvSpPr>
        <p:spPr>
          <a:xfrm>
            <a:off x="5120842" y="4564856"/>
            <a:ext cx="195031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B6CB0"/>
                </a:solidFill>
                <a:latin typeface="Arial"/>
                <a:ea typeface="Microsoft YaHei"/>
                <a:cs typeface="Arial"/>
              </a:rPr>
              <a:t>Tauri Desktop + RN Mobile</a:t>
            </a:r>
          </a:p>
        </p:txBody>
      </p:sp>
      <p:sp>
        <p:nvSpPr>
          <p:cNvPr id="36" name="Rectangle 36"/>
          <p:cNvSpPr/>
          <p:nvPr/>
        </p:nvSpPr>
        <p:spPr>
          <a:xfrm>
            <a:off x="7905750" y="4362450"/>
            <a:ext cx="3238500" cy="523875"/>
          </a:xfrm>
          <a:prstGeom prst="roundRect">
            <a:avLst>
              <a:gd name="adj" fmla="val 14545"/>
            </a:avLst>
          </a:prstGeom>
          <a:solidFill>
            <a:srgbClr val="EBF8FF"/>
          </a:solidFill>
          <a:ln w="9525">
            <a:solidFill>
              <a:srgbClr val="90CDF4"/>
            </a:solidFill>
          </a:ln>
        </p:spPr>
      </p:sp>
      <p:sp>
        <p:nvSpPr>
          <p:cNvPr id="37" name="TextBox 37"/>
          <p:cNvSpPr txBox="1"/>
          <p:nvPr/>
        </p:nvSpPr>
        <p:spPr>
          <a:xfrm>
            <a:off x="8667982" y="4564856"/>
            <a:ext cx="1714036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2B6CB0"/>
                </a:solidFill>
                <a:latin typeface="Arial"/>
                <a:ea typeface="Microsoft YaHei"/>
                <a:cs typeface="Arial"/>
              </a:rPr>
              <a:t>Docker/nsjail 沙箱隔离</a:t>
            </a:r>
          </a:p>
        </p:txBody>
      </p:sp>
      <p:sp>
        <p:nvSpPr>
          <p:cNvPr id="38" name="Rectangle 38"/>
          <p:cNvSpPr/>
          <p:nvPr/>
        </p:nvSpPr>
        <p:spPr>
          <a:xfrm>
            <a:off x="1047750" y="5029200"/>
            <a:ext cx="4953000" cy="523875"/>
          </a:xfrm>
          <a:prstGeom prst="roundRect">
            <a:avLst>
              <a:gd name="adj" fmla="val 14545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</p:sp>
      <p:sp>
        <p:nvSpPr>
          <p:cNvPr id="39" name="TextBox 39"/>
          <p:cNvSpPr txBox="1"/>
          <p:nvPr/>
        </p:nvSpPr>
        <p:spPr>
          <a:xfrm>
            <a:off x="2446705" y="5231606"/>
            <a:ext cx="2155091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4A5568"/>
                </a:solidFill>
                <a:latin typeface="Arial"/>
                <a:ea typeface="Microsoft YaHei"/>
                <a:cs typeface="Arial"/>
              </a:rPr>
              <a:t>Multi-turn 群聊场景调度优化</a:t>
            </a:r>
          </a:p>
        </p:txBody>
      </p:sp>
      <p:sp>
        <p:nvSpPr>
          <p:cNvPr id="40" name="Rectangle 40"/>
          <p:cNvSpPr/>
          <p:nvPr/>
        </p:nvSpPr>
        <p:spPr>
          <a:xfrm>
            <a:off x="6191250" y="5029200"/>
            <a:ext cx="4953000" cy="523875"/>
          </a:xfrm>
          <a:prstGeom prst="roundRect">
            <a:avLst>
              <a:gd name="adj" fmla="val 14545"/>
            </a:avLst>
          </a:prstGeom>
          <a:solidFill>
            <a:srgbClr val="F7FAFC"/>
          </a:solidFill>
          <a:ln w="9525">
            <a:solidFill>
              <a:srgbClr val="E2E8F0"/>
            </a:solidFill>
          </a:ln>
        </p:spPr>
      </p:sp>
      <p:sp>
        <p:nvSpPr>
          <p:cNvPr id="41" name="TextBox 41"/>
          <p:cNvSpPr txBox="1"/>
          <p:nvPr/>
        </p:nvSpPr>
        <p:spPr>
          <a:xfrm>
            <a:off x="7405119" y="5231606"/>
            <a:ext cx="2525262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4A5568"/>
                </a:solidFill>
                <a:latin typeface="Arial"/>
                <a:ea typeface="Microsoft YaHei"/>
                <a:cs typeface="Arial"/>
              </a:rPr>
              <a:t>Postgres 持久化 + 分布式任务调度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1298507" y="6578441"/>
            <a:ext cx="1419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718096"/>
                </a:solidFill>
                <a:latin typeface="Georgia"/>
                <a:ea typeface="Microsoft YaHei"/>
                <a:cs typeface="Georgia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365D"/>
              </a:gs>
              <a:gs pos="50000">
                <a:srgbClr val="1E4D8C"/>
              </a:gs>
              <a:gs pos="100000">
                <a:srgbClr val="2B6CB0"/>
              </a:gs>
            </a:gsLst>
            <a:lin ang="2700000" scaled="1"/>
          </a:gradFill>
          <a:ln>
            <a:noFill/>
          </a:ln>
        </p:spPr>
      </p:sp>
      <p:sp>
        <p:nvSpPr>
          <p:cNvPr id="3" name="Line 3"/>
          <p:cNvSpPr/>
          <p:nvPr/>
        </p:nvSpPr>
        <p:spPr>
          <a:xfrm>
            <a:off x="762000" y="4572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63B3ED">
                <a:alpha val="30000"/>
              </a:srgbClr>
            </a:solidFill>
          </a:ln>
        </p:spPr>
      </p:sp>
      <p:sp>
        <p:nvSpPr>
          <p:cNvPr id="4" name="TextBox 4"/>
          <p:cNvSpPr txBox="1"/>
          <p:nvPr/>
        </p:nvSpPr>
        <p:spPr>
          <a:xfrm>
            <a:off x="4954334" y="2245995"/>
            <a:ext cx="2283333" cy="7924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900" b="1" dirty="0">
                <a:solidFill>
                  <a:srgbClr val="FFFFFF">
                    <a:alphaMod val="95000"/>
                  </a:srgbClr>
                </a:solidFill>
                <a:latin typeface="Georgia"/>
                <a:ea typeface="Microsoft YaHei"/>
                <a:cs typeface="Georgia"/>
              </a:rPr>
              <a:t>感谢聆听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557980" y="3060382"/>
            <a:ext cx="1076039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dirty="0">
                <a:solidFill>
                  <a:srgbClr val="63B3ED">
                    <a:alphaMod val="80000"/>
                  </a:srgbClr>
                </a:solidFill>
                <a:latin typeface="Georgia"/>
                <a:ea typeface="SimSun"/>
                <a:cs typeface="Georgia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00550" y="3870960"/>
            <a:ext cx="33909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A0AEC0">
                    <a:alphaMod val="70000"/>
                  </a:srgbClr>
                </a:solidFill>
                <a:latin typeface="Arial"/>
                <a:ea typeface="Microsoft YaHei"/>
                <a:cs typeface="Arial"/>
              </a:rPr>
              <a:t>基于大语言模型的多智能体协作框架研究与实现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050334" y="4926806"/>
            <a:ext cx="209133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718096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答辩人：XXX · 导师：XXX 教授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89063" y="5212556"/>
            <a:ext cx="2413873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dirty="0">
                <a:solidFill>
                  <a:srgbClr val="718096">
                    <a:alphaMod val="60000"/>
                  </a:srgbClr>
                </a:solidFill>
                <a:latin typeface="Arial"/>
                <a:ea typeface="Microsoft YaHei"/>
                <a:cs typeface="Arial"/>
              </a:rPr>
              <a:t>计算机科学与技术学院 · 2026年6月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26011" y="6578441"/>
            <a:ext cx="114467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825" dirty="0">
                <a:solidFill>
                  <a:srgbClr val="718096">
                    <a:alphaMod val="50000"/>
                  </a:srgbClr>
                </a:solidFill>
                <a:latin typeface="Georgia"/>
                <a:ea typeface="Microsoft YaHei"/>
                <a:cs typeface="Georgia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